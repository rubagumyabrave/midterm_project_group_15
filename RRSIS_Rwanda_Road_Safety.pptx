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31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3388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project, the group and the technology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Rwandan road safety crisis and the three gaps RRSIS addresses.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pipeline left to right, then explain the HDFS and Spark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Justify the surrogate dataset and read the severity distribution.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quality issues, the treatment applied to each, and the retention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accidents cluster in time: hour, day, month and period.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central finding: fewest accidents at night, highest severity ratio.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1/3/5 weighting, then contrast Birmingham with Westminster.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counter-intuitive weather finding and the speed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dense_rank, and what the rural ranking exposes.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composite risk formula and what it surfaces that counts hide.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plans, three shuffles, and why cache changes the runtime.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five ranked management priorities and the action for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papers and the three findings that recur across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limitations acknowledged, six recommendations that answer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four headline outcomes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C6CA8">
                  <a:alpha val="10000"/>
                </a:srgbClr>
              </a:gs>
              <a:gs pos="70000">
                <a:srgbClr val="2C6CA8">
                  <a:alpha val="0"/>
                </a:srgbClr>
              </a:gs>
            </a:gsLst>
            <a:path path="circle">
              <a:fillToRect l="84000" t="14000" r="16000" b="86000"/>
            </a:path>
          </a:gra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-1582" r="-1582"/>
          <a:stretch/>
        </p:blipFill>
        <p:spPr>
          <a:xfrm>
            <a:off x="914400" y="742950"/>
            <a:ext cx="1066800" cy="1066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28850" y="929680"/>
            <a:ext cx="3528600" cy="731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96"/>
              </a:lnSpc>
              <a:buNone/>
            </a:pPr>
            <a:r>
              <a:rPr lang="en-US" sz="1950" kern="0" spc="390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ADVENTIST UNIVERSITY OF CENTRAL AFRICA</a:t>
            </a:r>
            <a:endParaRPr lang="en-US" sz="1950" dirty="0"/>
          </a:p>
        </p:txBody>
      </p:sp>
      <p:sp>
        <p:nvSpPr>
          <p:cNvPr id="5" name="Shape 2"/>
          <p:cNvSpPr/>
          <p:nvPr/>
        </p:nvSpPr>
        <p:spPr>
          <a:xfrm>
            <a:off x="914400" y="2804914"/>
            <a:ext cx="1143000" cy="47625"/>
          </a:xfrm>
          <a:prstGeom prst="roundRect">
            <a:avLst>
              <a:gd name="adj" fmla="val 50000"/>
            </a:avLst>
          </a:prstGeom>
          <a:solidFill>
            <a:srgbClr val="B87400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3214489"/>
            <a:ext cx="14716125" cy="18149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053"/>
              </a:lnSpc>
              <a:buNone/>
            </a:pPr>
            <a:r>
              <a:rPr lang="en-US" sz="6600" b="1" kern="0" spc="-132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Data-Driven Road Safety Intelligence</a:t>
            </a:r>
            <a:endParaRPr lang="en-US" sz="6600" dirty="0"/>
          </a:p>
        </p:txBody>
      </p:sp>
      <p:sp>
        <p:nvSpPr>
          <p:cNvPr id="7" name="Text 4"/>
          <p:cNvSpPr/>
          <p:nvPr/>
        </p:nvSpPr>
        <p:spPr>
          <a:xfrm>
            <a:off x="914400" y="5257999"/>
            <a:ext cx="18105120" cy="585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577"/>
              </a:lnSpc>
              <a:buNone/>
            </a:pPr>
            <a:r>
              <a:rPr lang="en-US" sz="3450" b="1" dirty="0">
                <a:solidFill>
                  <a:srgbClr val="B8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Prototype Rwanda Road Safety Intelligence System</a:t>
            </a:r>
            <a:endParaRPr lang="en-US" sz="3450" dirty="0"/>
          </a:p>
        </p:txBody>
      </p:sp>
      <p:sp>
        <p:nvSpPr>
          <p:cNvPr id="8" name="Text 5"/>
          <p:cNvSpPr/>
          <p:nvPr/>
        </p:nvSpPr>
        <p:spPr>
          <a:xfrm>
            <a:off x="914400" y="6015236"/>
            <a:ext cx="159345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kern="0" spc="114" dirty="0">
                <a:solidFill>
                  <a:srgbClr val="2C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(RRSIS)</a:t>
            </a:r>
            <a:endParaRPr lang="en-US" sz="2850" dirty="0"/>
          </a:p>
        </p:txBody>
      </p:sp>
      <p:sp>
        <p:nvSpPr>
          <p:cNvPr id="9" name="Shape 6"/>
          <p:cNvSpPr/>
          <p:nvPr/>
        </p:nvSpPr>
        <p:spPr>
          <a:xfrm>
            <a:off x="2610644" y="6043811"/>
            <a:ext cx="9525" cy="361950"/>
          </a:xfrm>
          <a:prstGeom prst="rect">
            <a:avLst/>
          </a:prstGeom>
          <a:solidFill>
            <a:srgbClr val="17203A">
              <a:alpha val="18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2867819" y="6034286"/>
            <a:ext cx="543585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Data Essentials — Midterm Group Project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914400" y="7200900"/>
            <a:ext cx="16459200" cy="1854200"/>
          </a:xfrm>
          <a:prstGeom prst="roundRect">
            <a:avLst>
              <a:gd name="adj" fmla="val 7192"/>
            </a:avLst>
          </a:prstGeom>
          <a:solidFill>
            <a:srgbClr val="F4F7FC"/>
          </a:solidFill>
          <a:ln w="12700">
            <a:solidFill>
              <a:srgbClr val="17203A">
                <a:alpha val="16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08100" y="7935119"/>
            <a:ext cx="820475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65"/>
              </a:lnSpc>
              <a:buNone/>
            </a:pPr>
            <a:r>
              <a:rPr lang="en-US" sz="2025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15 | MSc Big Data Analytics | September 2026</a:t>
            </a:r>
            <a:endParaRPr lang="en-US" sz="2025" dirty="0"/>
          </a:p>
        </p:txBody>
      </p:sp>
      <p:sp>
        <p:nvSpPr>
          <p:cNvPr id="13" name="Shape 10"/>
          <p:cNvSpPr/>
          <p:nvPr/>
        </p:nvSpPr>
        <p:spPr>
          <a:xfrm>
            <a:off x="9147969" y="7518400"/>
            <a:ext cx="12700" cy="1219200"/>
          </a:xfrm>
          <a:prstGeom prst="rect">
            <a:avLst/>
          </a:prstGeom>
          <a:solidFill>
            <a:srgbClr val="17203A">
              <a:alpha val="12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9541669" y="7518400"/>
            <a:ext cx="8182055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Rubagumya Brave — 101392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9541669" y="7950200"/>
            <a:ext cx="8182055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Uwizeye Christelle — 101465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9541669" y="8382000"/>
            <a:ext cx="8182055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Rwagasana Felicien — 101364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914400" y="9283700"/>
            <a:ext cx="18105120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Lecturer: Dr. Kundan Kumar | Big Data Essentials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900" y="495300"/>
            <a:ext cx="2632908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RRSIS — GROUP 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682046" y="495300"/>
            <a:ext cx="958255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23900" y="1022350"/>
            <a:ext cx="18524220" cy="645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653"/>
              </a:lnSpc>
              <a:buNone/>
            </a:pPr>
            <a:r>
              <a:rPr lang="en-US" sz="4350" b="1" kern="0" spc="-65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— Rwanda Road Safety Crisis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723900" y="1820466"/>
            <a:ext cx="914400" cy="38100"/>
          </a:xfrm>
          <a:prstGeom prst="roundRect">
            <a:avLst>
              <a:gd name="adj" fmla="val 50000"/>
            </a:avLst>
          </a:prstGeom>
          <a:solidFill>
            <a:srgbClr val="B87400"/>
          </a:solidFill>
          <a:ln/>
        </p:spPr>
      </p:sp>
      <p:sp>
        <p:nvSpPr>
          <p:cNvPr id="6" name="Shape 4"/>
          <p:cNvSpPr/>
          <p:nvPr/>
        </p:nvSpPr>
        <p:spPr>
          <a:xfrm>
            <a:off x="723900" y="2182416"/>
            <a:ext cx="8267700" cy="2358628"/>
          </a:xfrm>
          <a:prstGeom prst="roundRect">
            <a:avLst>
              <a:gd name="adj" fmla="val 5654"/>
            </a:avLst>
          </a:prstGeom>
          <a:solidFill>
            <a:srgbClr val="F4F7FC"/>
          </a:solidFill>
          <a:ln w="12700">
            <a:solidFill>
              <a:srgbClr val="17203A">
                <a:alpha val="13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0450" y="2647355"/>
            <a:ext cx="835406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805"/>
              </a:lnSpc>
              <a:buNone/>
            </a:pPr>
            <a:r>
              <a:rPr lang="en-US" sz="7200" b="1" dirty="0">
                <a:solidFill>
                  <a:srgbClr val="B8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9,995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1060450" y="3695105"/>
            <a:ext cx="835406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accidents in Rwanda — 2023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723900" y="4788694"/>
            <a:ext cx="8267700" cy="2358628"/>
          </a:xfrm>
          <a:prstGeom prst="roundRect">
            <a:avLst>
              <a:gd name="adj" fmla="val 5654"/>
            </a:avLst>
          </a:prstGeom>
          <a:solidFill>
            <a:srgbClr val="F4F7FC"/>
          </a:solidFill>
          <a:ln w="12700">
            <a:solidFill>
              <a:srgbClr val="17203A">
                <a:alpha val="13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450" y="5253633"/>
            <a:ext cx="835406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805"/>
              </a:lnSpc>
              <a:buNone/>
            </a:pPr>
            <a:r>
              <a:rPr lang="en-US" sz="7200" b="1" dirty="0">
                <a:solidFill>
                  <a:srgbClr val="D32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1060450" y="6301383"/>
            <a:ext cx="835406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in accidents since 2018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723900" y="7394972"/>
            <a:ext cx="8267700" cy="2358628"/>
          </a:xfrm>
          <a:prstGeom prst="roundRect">
            <a:avLst>
              <a:gd name="adj" fmla="val 5654"/>
            </a:avLst>
          </a:prstGeom>
          <a:solidFill>
            <a:srgbClr val="F4F7FC"/>
          </a:solidFill>
          <a:ln w="12700">
            <a:solidFill>
              <a:srgbClr val="17203A">
                <a:alpha val="13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450" y="7859911"/>
            <a:ext cx="835406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805"/>
              </a:lnSpc>
              <a:buNone/>
            </a:pPr>
            <a:r>
              <a:rPr lang="en-US" sz="7200" b="1" dirty="0">
                <a:solidFill>
                  <a:srgbClr val="2C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761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1060450" y="8907661"/>
            <a:ext cx="835406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Fatal accidents in 2023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296400" y="2182416"/>
            <a:ext cx="8267700" cy="7044135"/>
          </a:xfrm>
          <a:prstGeom prst="roundRect">
            <a:avLst>
              <a:gd name="adj" fmla="val 1893"/>
            </a:avLst>
          </a:prstGeom>
          <a:solidFill>
            <a:srgbClr val="F4F7FC"/>
          </a:solidFill>
          <a:ln w="12700">
            <a:solidFill>
              <a:srgbClr val="17203A">
                <a:alpha val="13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28200" y="3800872"/>
            <a:ext cx="814451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C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Critical Gaps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9728200" y="4651772"/>
            <a:ext cx="114300" cy="114300"/>
          </a:xfrm>
          <a:prstGeom prst="ellipse">
            <a:avLst/>
          </a:prstGeom>
          <a:solidFill>
            <a:srgbClr val="D32F4F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2050" y="4518422"/>
            <a:ext cx="7292658" cy="877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556"/>
              </a:lnSpc>
              <a:buNone/>
            </a:pPr>
            <a:r>
              <a:rPr lang="en-US" sz="2325" b="1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Volume </a:t>
            </a:r>
            <a:r>
              <a:rPr lang="en-US" sz="2325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manual cross-tabulation of thousands of records is not feasible</a:t>
            </a:r>
            <a:endParaRPr lang="en-US" sz="2325" dirty="0"/>
          </a:p>
        </p:txBody>
      </p:sp>
      <p:sp>
        <p:nvSpPr>
          <p:cNvPr id="19" name="Shape 17"/>
          <p:cNvSpPr/>
          <p:nvPr/>
        </p:nvSpPr>
        <p:spPr>
          <a:xfrm>
            <a:off x="9728200" y="5776913"/>
            <a:ext cx="114300" cy="114300"/>
          </a:xfrm>
          <a:prstGeom prst="ellipse">
            <a:avLst/>
          </a:prstGeom>
          <a:solidFill>
            <a:srgbClr val="B87400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2050" y="5643563"/>
            <a:ext cx="7292658" cy="877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556"/>
              </a:lnSpc>
              <a:buNone/>
            </a:pPr>
            <a:r>
              <a:rPr lang="en-US" sz="2325" b="1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Identification </a:t>
            </a:r>
            <a:r>
              <a:rPr lang="en-US" sz="2325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high-risk times and locations remain unidentified</a:t>
            </a:r>
            <a:endParaRPr lang="en-US" sz="2325" dirty="0"/>
          </a:p>
        </p:txBody>
      </p:sp>
      <p:sp>
        <p:nvSpPr>
          <p:cNvPr id="21" name="Shape 19"/>
          <p:cNvSpPr/>
          <p:nvPr/>
        </p:nvSpPr>
        <p:spPr>
          <a:xfrm>
            <a:off x="9728200" y="6902053"/>
            <a:ext cx="114300" cy="114300"/>
          </a:xfrm>
          <a:prstGeom prst="ellipse">
            <a:avLst/>
          </a:prstGeom>
          <a:solidFill>
            <a:srgbClr val="2C6CA8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2050" y="6768703"/>
            <a:ext cx="7292658" cy="877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556"/>
              </a:lnSpc>
              <a:buNone/>
            </a:pPr>
            <a:r>
              <a:rPr lang="en-US" sz="2325" b="1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Gap </a:t>
            </a:r>
            <a:r>
              <a:rPr lang="en-US" sz="2325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interventions lack numerical justification</a:t>
            </a:r>
            <a:endParaRPr lang="en-US" sz="2325" dirty="0"/>
          </a:p>
        </p:txBody>
      </p:sp>
      <p:sp>
        <p:nvSpPr>
          <p:cNvPr id="23" name="Text 21"/>
          <p:cNvSpPr/>
          <p:nvPr/>
        </p:nvSpPr>
        <p:spPr>
          <a:xfrm>
            <a:off x="9296400" y="9436100"/>
            <a:ext cx="9094470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NISR Statistical Yearbook 2024, Table 14.2.6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900" y="495300"/>
            <a:ext cx="2632908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RRSIS — GROUP 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682046" y="495300"/>
            <a:ext cx="958255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23900" y="1022350"/>
            <a:ext cx="18524220" cy="645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653"/>
              </a:lnSpc>
              <a:buNone/>
            </a:pPr>
            <a:r>
              <a:rPr lang="en-US" sz="4350" b="1" kern="0" spc="-65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RRSIS Solution — System Architecture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723900" y="1820466"/>
            <a:ext cx="914400" cy="38100"/>
          </a:xfrm>
          <a:prstGeom prst="roundRect">
            <a:avLst>
              <a:gd name="adj" fmla="val 50000"/>
            </a:avLst>
          </a:prstGeom>
          <a:solidFill>
            <a:srgbClr val="B87400"/>
          </a:solidFill>
          <a:ln/>
        </p:spPr>
      </p:sp>
      <p:sp>
        <p:nvSpPr>
          <p:cNvPr id="6" name="Shape 4"/>
          <p:cNvSpPr/>
          <p:nvPr/>
        </p:nvSpPr>
        <p:spPr>
          <a:xfrm>
            <a:off x="723900" y="2182416"/>
            <a:ext cx="2046486" cy="787400"/>
          </a:xfrm>
          <a:prstGeom prst="roundRect">
            <a:avLst>
              <a:gd name="adj" fmla="val 14516"/>
            </a:avLst>
          </a:prstGeom>
          <a:solidFill>
            <a:srgbClr val="2C6CA8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2430066"/>
            <a:ext cx="1970286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Data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2732286" y="2182416"/>
            <a:ext cx="495300" cy="825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2C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3189486" y="2182416"/>
            <a:ext cx="2046684" cy="787400"/>
          </a:xfrm>
          <a:prstGeom prst="roundRect">
            <a:avLst>
              <a:gd name="adj" fmla="val 14516"/>
            </a:avLst>
          </a:prstGeom>
          <a:solidFill>
            <a:srgbClr val="2F5DA8"/>
          </a:solidFill>
          <a:ln/>
        </p:spPr>
      </p:sp>
      <p:sp>
        <p:nvSpPr>
          <p:cNvPr id="10" name="Text 8"/>
          <p:cNvSpPr/>
          <p:nvPr/>
        </p:nvSpPr>
        <p:spPr>
          <a:xfrm>
            <a:off x="3227586" y="2430066"/>
            <a:ext cx="1970484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HDFS Storage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5198071" y="2182416"/>
            <a:ext cx="495300" cy="825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2C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5655271" y="2182416"/>
            <a:ext cx="2046486" cy="787400"/>
          </a:xfrm>
          <a:prstGeom prst="roundRect">
            <a:avLst>
              <a:gd name="adj" fmla="val 14516"/>
            </a:avLst>
          </a:prstGeom>
          <a:solidFill>
            <a:srgbClr val="2F5DA8"/>
          </a:solidFill>
          <a:ln/>
        </p:spPr>
      </p:sp>
      <p:sp>
        <p:nvSpPr>
          <p:cNvPr id="13" name="Text 11"/>
          <p:cNvSpPr/>
          <p:nvPr/>
        </p:nvSpPr>
        <p:spPr>
          <a:xfrm>
            <a:off x="5693371" y="2430066"/>
            <a:ext cx="1970286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 Load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663657" y="2182416"/>
            <a:ext cx="495300" cy="825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2C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8120857" y="2182416"/>
            <a:ext cx="2046486" cy="787400"/>
          </a:xfrm>
          <a:prstGeom prst="roundRect">
            <a:avLst>
              <a:gd name="adj" fmla="val 14516"/>
            </a:avLst>
          </a:prstGeom>
          <a:solidFill>
            <a:srgbClr val="D32F4F"/>
          </a:solidFill>
          <a:ln/>
        </p:spPr>
      </p:sp>
      <p:sp>
        <p:nvSpPr>
          <p:cNvPr id="16" name="Text 14"/>
          <p:cNvSpPr/>
          <p:nvPr/>
        </p:nvSpPr>
        <p:spPr>
          <a:xfrm>
            <a:off x="8158957" y="2430066"/>
            <a:ext cx="1970286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0129242" y="2182416"/>
            <a:ext cx="495300" cy="825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2C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10586442" y="2182416"/>
            <a:ext cx="2046486" cy="787400"/>
          </a:xfrm>
          <a:prstGeom prst="roundRect">
            <a:avLst>
              <a:gd name="adj" fmla="val 14516"/>
            </a:avLst>
          </a:prstGeom>
          <a:solidFill>
            <a:srgbClr val="2C6CA8"/>
          </a:solidFill>
          <a:ln/>
        </p:spPr>
      </p:sp>
      <p:sp>
        <p:nvSpPr>
          <p:cNvPr id="19" name="Text 17"/>
          <p:cNvSpPr/>
          <p:nvPr/>
        </p:nvSpPr>
        <p:spPr>
          <a:xfrm>
            <a:off x="10624542" y="2430066"/>
            <a:ext cx="1970286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2594829" y="2182416"/>
            <a:ext cx="495300" cy="825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2C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13052029" y="2182416"/>
            <a:ext cx="2046486" cy="787400"/>
          </a:xfrm>
          <a:prstGeom prst="roundRect">
            <a:avLst>
              <a:gd name="adj" fmla="val 14516"/>
            </a:avLst>
          </a:prstGeom>
          <a:solidFill>
            <a:srgbClr val="B87400"/>
          </a:solidFill>
          <a:ln/>
        </p:spPr>
      </p:sp>
      <p:sp>
        <p:nvSpPr>
          <p:cNvPr id="22" name="Text 20"/>
          <p:cNvSpPr/>
          <p:nvPr/>
        </p:nvSpPr>
        <p:spPr>
          <a:xfrm>
            <a:off x="13090129" y="2430066"/>
            <a:ext cx="1970286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202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Model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5060414" y="2182416"/>
            <a:ext cx="495300" cy="825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2C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15517614" y="2182416"/>
            <a:ext cx="2046486" cy="787400"/>
          </a:xfrm>
          <a:prstGeom prst="roundRect">
            <a:avLst>
              <a:gd name="adj" fmla="val 14516"/>
            </a:avLst>
          </a:prstGeom>
          <a:solidFill>
            <a:srgbClr val="D32F4F"/>
          </a:solidFill>
          <a:ln/>
        </p:spPr>
      </p:sp>
      <p:sp>
        <p:nvSpPr>
          <p:cNvPr id="25" name="Text 23"/>
          <p:cNvSpPr/>
          <p:nvPr/>
        </p:nvSpPr>
        <p:spPr>
          <a:xfrm>
            <a:off x="15555714" y="2430066"/>
            <a:ext cx="1970286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723900" y="3350816"/>
            <a:ext cx="8267700" cy="5310585"/>
          </a:xfrm>
          <a:prstGeom prst="roundRect">
            <a:avLst>
              <a:gd name="adj" fmla="val 2511"/>
            </a:avLst>
          </a:prstGeom>
          <a:solidFill>
            <a:srgbClr val="F4F7FC"/>
          </a:solidFill>
          <a:ln w="12700">
            <a:solidFill>
              <a:srgbClr val="17203A">
                <a:alpha val="13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17600" y="4625380"/>
            <a:ext cx="822833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C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HDFS Layer</a:t>
            </a:r>
            <a:endParaRPr lang="en-US" sz="2700" dirty="0"/>
          </a:p>
        </p:txBody>
      </p:sp>
      <p:sp>
        <p:nvSpPr>
          <p:cNvPr id="28" name="Text 26"/>
          <p:cNvSpPr/>
          <p:nvPr/>
        </p:nvSpPr>
        <p:spPr>
          <a:xfrm>
            <a:off x="1117600" y="5266730"/>
            <a:ext cx="8228330" cy="410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933"/>
              </a:lnSpc>
              <a:buNone/>
            </a:pPr>
            <a:r>
              <a:rPr lang="en-US" sz="2175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dataset at /Group_15/midterm_dataset/</a:t>
            </a:r>
            <a:endParaRPr lang="en-US" sz="2175" dirty="0"/>
          </a:p>
        </p:txBody>
      </p:sp>
      <p:sp>
        <p:nvSpPr>
          <p:cNvPr id="29" name="Text 27"/>
          <p:cNvSpPr/>
          <p:nvPr/>
        </p:nvSpPr>
        <p:spPr>
          <a:xfrm>
            <a:off x="1117600" y="5849144"/>
            <a:ext cx="8228330" cy="410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933"/>
              </a:lnSpc>
              <a:buNone/>
            </a:pPr>
            <a:r>
              <a:rPr lang="en-US" sz="2175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Distributed, replicated, fault-tolerant</a:t>
            </a:r>
            <a:endParaRPr lang="en-US" sz="2175" dirty="0"/>
          </a:p>
        </p:txBody>
      </p:sp>
      <p:sp>
        <p:nvSpPr>
          <p:cNvPr id="30" name="Text 28"/>
          <p:cNvSpPr/>
          <p:nvPr/>
        </p:nvSpPr>
        <p:spPr>
          <a:xfrm>
            <a:off x="1117600" y="6431558"/>
            <a:ext cx="8228330" cy="410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933"/>
              </a:lnSpc>
              <a:buNone/>
            </a:pPr>
            <a:r>
              <a:rPr lang="en-US" sz="2175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CSV never modified — full audit trail</a:t>
            </a:r>
            <a:endParaRPr lang="en-US" sz="2175" dirty="0"/>
          </a:p>
        </p:txBody>
      </p:sp>
      <p:sp>
        <p:nvSpPr>
          <p:cNvPr id="31" name="Text 29"/>
          <p:cNvSpPr/>
          <p:nvPr/>
        </p:nvSpPr>
        <p:spPr>
          <a:xfrm>
            <a:off x="1117600" y="7013972"/>
            <a:ext cx="8228330" cy="410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933"/>
              </a:lnSpc>
              <a:buNone/>
            </a:pPr>
            <a:r>
              <a:rPr lang="en-US" sz="2175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72.2 MB — Road_Accident_Data.csv</a:t>
            </a:r>
            <a:endParaRPr lang="en-US" sz="2175" dirty="0"/>
          </a:p>
        </p:txBody>
      </p:sp>
      <p:sp>
        <p:nvSpPr>
          <p:cNvPr id="32" name="Shape 30"/>
          <p:cNvSpPr/>
          <p:nvPr/>
        </p:nvSpPr>
        <p:spPr>
          <a:xfrm>
            <a:off x="9296400" y="3350816"/>
            <a:ext cx="8267700" cy="5310585"/>
          </a:xfrm>
          <a:prstGeom prst="roundRect">
            <a:avLst>
              <a:gd name="adj" fmla="val 2511"/>
            </a:avLst>
          </a:prstGeom>
          <a:solidFill>
            <a:srgbClr val="F4F7FC"/>
          </a:solidFill>
          <a:ln w="12700">
            <a:solidFill>
              <a:srgbClr val="17203A">
                <a:alpha val="13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90100" y="4625380"/>
            <a:ext cx="822833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C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Spark 3.4.4</a:t>
            </a:r>
            <a:endParaRPr lang="en-US" sz="2700" dirty="0"/>
          </a:p>
        </p:txBody>
      </p:sp>
      <p:sp>
        <p:nvSpPr>
          <p:cNvPr id="34" name="Text 32"/>
          <p:cNvSpPr/>
          <p:nvPr/>
        </p:nvSpPr>
        <p:spPr>
          <a:xfrm>
            <a:off x="9690100" y="5266730"/>
            <a:ext cx="8228330" cy="410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933"/>
              </a:lnSpc>
              <a:buNone/>
            </a:pPr>
            <a:r>
              <a:rPr lang="en-US" sz="2175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from HDFS in parallel partitions</a:t>
            </a:r>
            <a:endParaRPr lang="en-US" sz="2175" dirty="0"/>
          </a:p>
        </p:txBody>
      </p:sp>
      <p:sp>
        <p:nvSpPr>
          <p:cNvPr id="35" name="Text 33"/>
          <p:cNvSpPr/>
          <p:nvPr/>
        </p:nvSpPr>
        <p:spPr>
          <a:xfrm>
            <a:off x="9690100" y="5849144"/>
            <a:ext cx="8228330" cy="410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933"/>
              </a:lnSpc>
              <a:buNone/>
            </a:pPr>
            <a:r>
              <a:rPr lang="en-US" sz="2175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Processes 307,955 records efficiently</a:t>
            </a:r>
            <a:endParaRPr lang="en-US" sz="2175" dirty="0"/>
          </a:p>
        </p:txBody>
      </p:sp>
      <p:sp>
        <p:nvSpPr>
          <p:cNvPr id="36" name="Text 34"/>
          <p:cNvSpPr/>
          <p:nvPr/>
        </p:nvSpPr>
        <p:spPr>
          <a:xfrm>
            <a:off x="9690100" y="6431558"/>
            <a:ext cx="8228330" cy="410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933"/>
              </a:lnSpc>
              <a:buNone/>
            </a:pPr>
            <a:r>
              <a:rPr lang="en-US" sz="2175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df_cleaned cached in memory after Task 2</a:t>
            </a:r>
            <a:endParaRPr lang="en-US" sz="2175" dirty="0"/>
          </a:p>
        </p:txBody>
      </p:sp>
      <p:sp>
        <p:nvSpPr>
          <p:cNvPr id="37" name="Text 35"/>
          <p:cNvSpPr/>
          <p:nvPr/>
        </p:nvSpPr>
        <p:spPr>
          <a:xfrm>
            <a:off x="9690100" y="7013972"/>
            <a:ext cx="8228330" cy="410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933"/>
              </a:lnSpc>
              <a:buNone/>
            </a:pPr>
            <a:r>
              <a:rPr lang="en-US" sz="2175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3–9 all read from memory</a:t>
            </a:r>
            <a:endParaRPr lang="en-US" sz="2175" dirty="0"/>
          </a:p>
        </p:txBody>
      </p:sp>
      <p:sp>
        <p:nvSpPr>
          <p:cNvPr id="38" name="Shape 36"/>
          <p:cNvSpPr/>
          <p:nvPr/>
        </p:nvSpPr>
        <p:spPr>
          <a:xfrm>
            <a:off x="723900" y="8966200"/>
            <a:ext cx="16840200" cy="787400"/>
          </a:xfrm>
          <a:prstGeom prst="roundRect">
            <a:avLst>
              <a:gd name="adj" fmla="val 14516"/>
            </a:avLst>
          </a:prstGeom>
          <a:solidFill>
            <a:srgbClr val="F4F7FC"/>
          </a:solidFill>
          <a:ln/>
        </p:spPr>
      </p:sp>
      <p:sp>
        <p:nvSpPr>
          <p:cNvPr id="39" name="Shape 37"/>
          <p:cNvSpPr/>
          <p:nvPr/>
        </p:nvSpPr>
        <p:spPr>
          <a:xfrm>
            <a:off x="723900" y="9740900"/>
            <a:ext cx="16840200" cy="12700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23900" y="8966200"/>
            <a:ext cx="16840200" cy="12700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23900" y="8966200"/>
            <a:ext cx="38100" cy="787400"/>
          </a:xfrm>
          <a:prstGeom prst="rect">
            <a:avLst/>
          </a:prstGeom>
          <a:solidFill>
            <a:srgbClr val="2C6CA8"/>
          </a:solidFill>
          <a:ln/>
        </p:spPr>
      </p:sp>
      <p:sp>
        <p:nvSpPr>
          <p:cNvPr id="42" name="Shape 40"/>
          <p:cNvSpPr/>
          <p:nvPr/>
        </p:nvSpPr>
        <p:spPr>
          <a:xfrm>
            <a:off x="17551400" y="8966200"/>
            <a:ext cx="12700" cy="787400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1066800" y="9207500"/>
            <a:ext cx="1668500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D6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HDFS Path: hdfs://localhost:9000/Group_15/midterm_dataset/Road_Accident_Data.csv</a:t>
            </a:r>
            <a:endParaRPr lang="en-US" sz="18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900" y="495300"/>
            <a:ext cx="2632908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RRSIS — GROUP 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682046" y="495300"/>
            <a:ext cx="958255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23900" y="1022350"/>
            <a:ext cx="18524220" cy="6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787"/>
              </a:lnSpc>
              <a:buNone/>
            </a:pPr>
            <a:r>
              <a:rPr lang="en-US" sz="4050" b="1" kern="0" spc="-61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— Kaggle Road Accident Dataset (Surrogate)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723900" y="1778595"/>
            <a:ext cx="914400" cy="38100"/>
          </a:xfrm>
          <a:prstGeom prst="roundRect">
            <a:avLst>
              <a:gd name="adj" fmla="val 50000"/>
            </a:avLst>
          </a:prstGeom>
          <a:solidFill>
            <a:srgbClr val="B87400"/>
          </a:solidFill>
          <a:ln/>
        </p:spPr>
      </p:sp>
      <p:sp>
        <p:nvSpPr>
          <p:cNvPr id="6" name="Shape 4"/>
          <p:cNvSpPr/>
          <p:nvPr/>
        </p:nvSpPr>
        <p:spPr>
          <a:xfrm>
            <a:off x="723900" y="2102445"/>
            <a:ext cx="5435600" cy="1670050"/>
          </a:xfrm>
          <a:prstGeom prst="roundRect">
            <a:avLst>
              <a:gd name="adj" fmla="val 7985"/>
            </a:avLst>
          </a:prstGeom>
          <a:solidFill>
            <a:srgbClr val="F4F7FC"/>
          </a:solidFill>
          <a:ln w="12700">
            <a:solidFill>
              <a:srgbClr val="17203A">
                <a:alpha val="13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1400" y="2362795"/>
            <a:ext cx="528066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066"/>
              </a:lnSpc>
              <a:buNone/>
            </a:pPr>
            <a:r>
              <a:rPr lang="en-US" sz="5250" b="1" dirty="0">
                <a:solidFill>
                  <a:srgbClr val="B8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307,973</a:t>
            </a:r>
            <a:endParaRPr lang="en-US" sz="5250" dirty="0"/>
          </a:p>
        </p:txBody>
      </p:sp>
      <p:sp>
        <p:nvSpPr>
          <p:cNvPr id="8" name="Text 6"/>
          <p:cNvSpPr/>
          <p:nvPr/>
        </p:nvSpPr>
        <p:spPr>
          <a:xfrm>
            <a:off x="1041400" y="3143845"/>
            <a:ext cx="528066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Records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6426200" y="2102445"/>
            <a:ext cx="5435600" cy="1670050"/>
          </a:xfrm>
          <a:prstGeom prst="roundRect">
            <a:avLst>
              <a:gd name="adj" fmla="val 7985"/>
            </a:avLst>
          </a:prstGeom>
          <a:solidFill>
            <a:srgbClr val="F4F7FC"/>
          </a:solidFill>
          <a:ln w="12700">
            <a:solidFill>
              <a:srgbClr val="17203A">
                <a:alpha val="13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43700" y="2362795"/>
            <a:ext cx="528066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066"/>
              </a:lnSpc>
              <a:buNone/>
            </a:pPr>
            <a:r>
              <a:rPr lang="en-US" sz="5250" b="1" dirty="0">
                <a:solidFill>
                  <a:srgbClr val="B8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5250" dirty="0"/>
          </a:p>
        </p:txBody>
      </p:sp>
      <p:sp>
        <p:nvSpPr>
          <p:cNvPr id="11" name="Text 9"/>
          <p:cNvSpPr/>
          <p:nvPr/>
        </p:nvSpPr>
        <p:spPr>
          <a:xfrm>
            <a:off x="6743700" y="3143845"/>
            <a:ext cx="528066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12128500" y="2102445"/>
            <a:ext cx="5435600" cy="1670050"/>
          </a:xfrm>
          <a:prstGeom prst="roundRect">
            <a:avLst>
              <a:gd name="adj" fmla="val 7985"/>
            </a:avLst>
          </a:prstGeom>
          <a:solidFill>
            <a:srgbClr val="F4F7FC"/>
          </a:solidFill>
          <a:ln w="12700">
            <a:solidFill>
              <a:srgbClr val="17203A">
                <a:alpha val="13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46001" y="2362795"/>
            <a:ext cx="528066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066"/>
              </a:lnSpc>
              <a:buNone/>
            </a:pPr>
            <a:r>
              <a:rPr lang="en-US" sz="5250" b="1" dirty="0">
                <a:solidFill>
                  <a:srgbClr val="B8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72.2 MB</a:t>
            </a:r>
            <a:endParaRPr lang="en-US" sz="5250" dirty="0"/>
          </a:p>
        </p:txBody>
      </p:sp>
      <p:sp>
        <p:nvSpPr>
          <p:cNvPr id="14" name="Text 12"/>
          <p:cNvSpPr/>
          <p:nvPr/>
        </p:nvSpPr>
        <p:spPr>
          <a:xfrm>
            <a:off x="12446001" y="3143845"/>
            <a:ext cx="528066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Size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723900" y="4058245"/>
            <a:ext cx="8267700" cy="2874169"/>
          </a:xfrm>
          <a:prstGeom prst="roundRect">
            <a:avLst>
              <a:gd name="adj" fmla="val 4640"/>
            </a:avLst>
          </a:prstGeom>
          <a:solidFill>
            <a:srgbClr val="F4F7FC"/>
          </a:solidFill>
          <a:ln w="12700">
            <a:solidFill>
              <a:srgbClr val="17203A">
                <a:alpha val="13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0450" y="4337645"/>
            <a:ext cx="835406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2C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Dataset?</a:t>
            </a:r>
            <a:endParaRPr lang="en-US" sz="2475" dirty="0"/>
          </a:p>
        </p:txBody>
      </p:sp>
      <p:sp>
        <p:nvSpPr>
          <p:cNvPr id="17" name="Text 15"/>
          <p:cNvSpPr/>
          <p:nvPr/>
        </p:nvSpPr>
        <p:spPr>
          <a:xfrm>
            <a:off x="1060450" y="4864696"/>
            <a:ext cx="8354060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859"/>
              </a:lnSpc>
              <a:buNone/>
            </a:pPr>
            <a:r>
              <a:rPr lang="en-US" sz="2025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enough to justify distributed architecture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1060450" y="5345113"/>
            <a:ext cx="8354060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859"/>
              </a:lnSpc>
              <a:buNone/>
            </a:pPr>
            <a:r>
              <a:rPr lang="en-US" sz="2025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Attribute-rich for multi-factor analysis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1060450" y="5825530"/>
            <a:ext cx="8354060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859"/>
              </a:lnSpc>
              <a:buNone/>
            </a:pPr>
            <a:r>
              <a:rPr lang="en-US" sz="2025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Openly licensed — UK accidents 2021–2022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1060450" y="6305947"/>
            <a:ext cx="8354060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859"/>
              </a:lnSpc>
              <a:buNone/>
            </a:pPr>
            <a:r>
              <a:rPr lang="en-US" sz="2025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307,973 records across 23 columns</a:t>
            </a:r>
            <a:endParaRPr lang="en-US" sz="2025" dirty="0"/>
          </a:p>
        </p:txBody>
      </p:sp>
      <p:sp>
        <p:nvSpPr>
          <p:cNvPr id="21" name="Shape 19"/>
          <p:cNvSpPr/>
          <p:nvPr/>
        </p:nvSpPr>
        <p:spPr>
          <a:xfrm>
            <a:off x="723900" y="7180064"/>
            <a:ext cx="8267700" cy="2874169"/>
          </a:xfrm>
          <a:prstGeom prst="roundRect">
            <a:avLst>
              <a:gd name="adj" fmla="val 4640"/>
            </a:avLst>
          </a:prstGeom>
          <a:solidFill>
            <a:srgbClr val="F4F7FC"/>
          </a:solidFill>
          <a:ln w="12700">
            <a:solidFill>
              <a:srgbClr val="17203A">
                <a:alpha val="13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0450" y="7459464"/>
            <a:ext cx="835406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2C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Insights That Transfer to Rwanda</a:t>
            </a:r>
            <a:endParaRPr lang="en-US" sz="2475" dirty="0"/>
          </a:p>
        </p:txBody>
      </p:sp>
      <p:sp>
        <p:nvSpPr>
          <p:cNvPr id="23" name="Text 21"/>
          <p:cNvSpPr/>
          <p:nvPr/>
        </p:nvSpPr>
        <p:spPr>
          <a:xfrm>
            <a:off x="1060450" y="7986514"/>
            <a:ext cx="8354060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859"/>
              </a:lnSpc>
              <a:buNone/>
            </a:pPr>
            <a:r>
              <a:rPr lang="en-US" sz="2025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Night-time severity pattern</a:t>
            </a:r>
            <a:endParaRPr lang="en-US" sz="2025" dirty="0"/>
          </a:p>
        </p:txBody>
      </p:sp>
      <p:sp>
        <p:nvSpPr>
          <p:cNvPr id="24" name="Text 22"/>
          <p:cNvSpPr/>
          <p:nvPr/>
        </p:nvSpPr>
        <p:spPr>
          <a:xfrm>
            <a:off x="1060450" y="8466931"/>
            <a:ext cx="8354060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859"/>
              </a:lnSpc>
              <a:buNone/>
            </a:pPr>
            <a:r>
              <a:rPr lang="en-US" sz="2025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carriageway road risk</a:t>
            </a:r>
            <a:endParaRPr lang="en-US" sz="2025" dirty="0"/>
          </a:p>
        </p:txBody>
      </p:sp>
      <p:sp>
        <p:nvSpPr>
          <p:cNvPr id="25" name="Text 23"/>
          <p:cNvSpPr/>
          <p:nvPr/>
        </p:nvSpPr>
        <p:spPr>
          <a:xfrm>
            <a:off x="1060450" y="8947349"/>
            <a:ext cx="8354060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859"/>
              </a:lnSpc>
              <a:buNone/>
            </a:pPr>
            <a:r>
              <a:rPr lang="en-US" sz="2025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Evening peak concentration</a:t>
            </a:r>
            <a:endParaRPr lang="en-US" sz="2025" dirty="0"/>
          </a:p>
        </p:txBody>
      </p:sp>
      <p:sp>
        <p:nvSpPr>
          <p:cNvPr id="26" name="Text 24"/>
          <p:cNvSpPr/>
          <p:nvPr/>
        </p:nvSpPr>
        <p:spPr>
          <a:xfrm>
            <a:off x="1060450" y="9427766"/>
            <a:ext cx="8354060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859"/>
              </a:lnSpc>
              <a:buNone/>
            </a:pPr>
            <a:r>
              <a:rPr lang="en-US" sz="2025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behaviour over weather conditions</a:t>
            </a:r>
            <a:endParaRPr lang="en-US" sz="2025" dirty="0"/>
          </a:p>
        </p:txBody>
      </p:sp>
      <p:sp>
        <p:nvSpPr>
          <p:cNvPr id="27" name="Shape 25"/>
          <p:cNvSpPr/>
          <p:nvPr/>
        </p:nvSpPr>
        <p:spPr>
          <a:xfrm>
            <a:off x="9296400" y="4058245"/>
            <a:ext cx="8267700" cy="3695700"/>
          </a:xfrm>
          <a:prstGeom prst="roundRect">
            <a:avLst>
              <a:gd name="adj" fmla="val 3608"/>
            </a:avLst>
          </a:prstGeom>
          <a:solidFill>
            <a:srgbClr val="F4F7FC"/>
          </a:solidFill>
          <a:ln w="12700">
            <a:solidFill>
              <a:srgbClr val="17203A">
                <a:alpha val="13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52000" y="4375745"/>
            <a:ext cx="831215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2C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Distribution</a:t>
            </a:r>
            <a:endParaRPr lang="en-US" sz="2475" dirty="0"/>
          </a:p>
        </p:txBody>
      </p:sp>
      <p:sp>
        <p:nvSpPr>
          <p:cNvPr id="29" name="Shape 27"/>
          <p:cNvSpPr/>
          <p:nvPr/>
        </p:nvSpPr>
        <p:spPr>
          <a:xfrm>
            <a:off x="9652000" y="4959946"/>
            <a:ext cx="7556500" cy="723900"/>
          </a:xfrm>
          <a:prstGeom prst="roundRect">
            <a:avLst>
              <a:gd name="adj" fmla="val 13158"/>
            </a:avLst>
          </a:prstGeom>
          <a:solidFill>
            <a:srgbClr val="2C6CA8"/>
          </a:solidFill>
          <a:ln/>
        </p:spPr>
      </p:sp>
      <p:sp>
        <p:nvSpPr>
          <p:cNvPr id="30" name="Text 28"/>
          <p:cNvSpPr/>
          <p:nvPr/>
        </p:nvSpPr>
        <p:spPr>
          <a:xfrm>
            <a:off x="9899650" y="5150446"/>
            <a:ext cx="72878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Slight — 263,264 accidents — 85.49%</a:t>
            </a:r>
            <a:endParaRPr lang="en-US" sz="2025" dirty="0"/>
          </a:p>
        </p:txBody>
      </p:sp>
      <p:sp>
        <p:nvSpPr>
          <p:cNvPr id="31" name="Shape 29"/>
          <p:cNvSpPr/>
          <p:nvPr/>
        </p:nvSpPr>
        <p:spPr>
          <a:xfrm>
            <a:off x="9652000" y="5836246"/>
            <a:ext cx="7556500" cy="723900"/>
          </a:xfrm>
          <a:prstGeom prst="roundRect">
            <a:avLst>
              <a:gd name="adj" fmla="val 13158"/>
            </a:avLst>
          </a:prstGeom>
          <a:solidFill>
            <a:srgbClr val="2F5DA8"/>
          </a:solidFill>
          <a:ln/>
        </p:spPr>
      </p:sp>
      <p:sp>
        <p:nvSpPr>
          <p:cNvPr id="32" name="Text 30"/>
          <p:cNvSpPr/>
          <p:nvPr/>
        </p:nvSpPr>
        <p:spPr>
          <a:xfrm>
            <a:off x="9899650" y="6026746"/>
            <a:ext cx="72878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Serious — 40,738 accidents — 13.23%</a:t>
            </a:r>
            <a:endParaRPr lang="en-US" sz="2025" dirty="0"/>
          </a:p>
        </p:txBody>
      </p:sp>
      <p:sp>
        <p:nvSpPr>
          <p:cNvPr id="33" name="Shape 31"/>
          <p:cNvSpPr/>
          <p:nvPr/>
        </p:nvSpPr>
        <p:spPr>
          <a:xfrm>
            <a:off x="9652000" y="6712546"/>
            <a:ext cx="7556500" cy="723900"/>
          </a:xfrm>
          <a:prstGeom prst="roundRect">
            <a:avLst>
              <a:gd name="adj" fmla="val 13158"/>
            </a:avLst>
          </a:prstGeom>
          <a:solidFill>
            <a:srgbClr val="D32F4F"/>
          </a:solidFill>
          <a:ln/>
        </p:spPr>
      </p:sp>
      <p:sp>
        <p:nvSpPr>
          <p:cNvPr id="34" name="Text 32"/>
          <p:cNvSpPr/>
          <p:nvPr/>
        </p:nvSpPr>
        <p:spPr>
          <a:xfrm>
            <a:off x="9899650" y="6903046"/>
            <a:ext cx="72878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Fatal — 3,953 accidents — 1.28%</a:t>
            </a:r>
            <a:endParaRPr lang="en-US" sz="2025" dirty="0"/>
          </a:p>
        </p:txBody>
      </p:sp>
      <p:sp>
        <p:nvSpPr>
          <p:cNvPr id="35" name="Text 33"/>
          <p:cNvSpPr/>
          <p:nvPr/>
        </p:nvSpPr>
        <p:spPr>
          <a:xfrm>
            <a:off x="9296400" y="8001595"/>
            <a:ext cx="9094470" cy="357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Xavierberge (2023), Kaggle Road Accident Dataset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296400" y="8416727"/>
            <a:ext cx="9094470" cy="357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Mechanisms not magnitudes — findings transfer as universal road safety dynamics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900" y="495300"/>
            <a:ext cx="2632908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RRSIS — GROUP 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682046" y="495300"/>
            <a:ext cx="958255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23900" y="1022350"/>
            <a:ext cx="18524220" cy="645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653"/>
              </a:lnSpc>
              <a:buNone/>
            </a:pPr>
            <a:r>
              <a:rPr lang="en-US" sz="4350" b="1" kern="0" spc="-65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 — Data Quality Engineering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723900" y="1820466"/>
            <a:ext cx="914400" cy="38100"/>
          </a:xfrm>
          <a:prstGeom prst="roundRect">
            <a:avLst>
              <a:gd name="adj" fmla="val 50000"/>
            </a:avLst>
          </a:prstGeom>
          <a:solidFill>
            <a:srgbClr val="B87400"/>
          </a:solidFill>
          <a:ln/>
        </p:spPr>
      </p:sp>
      <p:sp>
        <p:nvSpPr>
          <p:cNvPr id="6" name="Shape 4"/>
          <p:cNvSpPr/>
          <p:nvPr/>
        </p:nvSpPr>
        <p:spPr>
          <a:xfrm>
            <a:off x="723900" y="2182416"/>
            <a:ext cx="10522347" cy="7571184"/>
          </a:xfrm>
          <a:prstGeom prst="roundRect">
            <a:avLst>
              <a:gd name="adj" fmla="val 1761"/>
            </a:avLst>
          </a:prstGeom>
          <a:solidFill>
            <a:srgbClr val="F4F7FC"/>
          </a:solidFill>
          <a:ln w="12700">
            <a:solidFill>
              <a:srgbClr val="17203A">
                <a:alpha val="13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2350" y="2931716"/>
            <a:ext cx="9925448" cy="12700"/>
          </a:xfrm>
          <a:prstGeom prst="rect">
            <a:avLst/>
          </a:prstGeom>
          <a:solidFill>
            <a:srgbClr val="2C6CA8">
              <a:alpha val="4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98550" y="2499916"/>
            <a:ext cx="4673402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188" dirty="0">
                <a:solidFill>
                  <a:srgbClr val="2C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5537597" y="2499916"/>
            <a:ext cx="35623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188" dirty="0">
                <a:solidFill>
                  <a:srgbClr val="2C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8776097" y="2499916"/>
            <a:ext cx="20955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75" b="1" kern="0" spc="188" dirty="0">
                <a:solidFill>
                  <a:srgbClr val="2C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022350" y="3674666"/>
            <a:ext cx="9925448" cy="12700"/>
          </a:xfrm>
          <a:prstGeom prst="rect">
            <a:avLst/>
          </a:prstGeom>
          <a:solidFill>
            <a:srgbClr val="17203A">
              <a:alpha val="9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98550" y="3125391"/>
            <a:ext cx="4673402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B8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</a:t>
            </a:r>
            <a:r>
              <a:rPr lang="en-US" sz="2025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Accident Date stored as String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5537597" y="3157141"/>
            <a:ext cx="35623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D6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to_date()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8776097" y="3125391"/>
            <a:ext cx="209550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307,973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1022350" y="4417616"/>
            <a:ext cx="9925448" cy="12700"/>
          </a:xfrm>
          <a:prstGeom prst="rect">
            <a:avLst/>
          </a:prstGeom>
          <a:solidFill>
            <a:srgbClr val="17203A">
              <a:alpha val="9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98550" y="3868341"/>
            <a:ext cx="4673402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B8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</a:t>
            </a:r>
            <a:r>
              <a:rPr lang="en-US" sz="2025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has fake date (2026-09-02)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5537597" y="3900091"/>
            <a:ext cx="35623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D6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date_format()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8776097" y="3868341"/>
            <a:ext cx="209550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307,973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1022350" y="5160566"/>
            <a:ext cx="9925448" cy="12700"/>
          </a:xfrm>
          <a:prstGeom prst="rect">
            <a:avLst/>
          </a:prstGeom>
          <a:solidFill>
            <a:srgbClr val="17203A">
              <a:alpha val="9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98550" y="4611291"/>
            <a:ext cx="4673402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B8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</a:t>
            </a:r>
            <a:r>
              <a:rPr lang="en-US" sz="2025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Weather_Conditions missing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5537597" y="4643041"/>
            <a:ext cx="35623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D6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 "Unknown"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8776097" y="4611291"/>
            <a:ext cx="209550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6,057</a:t>
            </a:r>
            <a:endParaRPr lang="en-US" sz="2025" dirty="0"/>
          </a:p>
        </p:txBody>
      </p:sp>
      <p:sp>
        <p:nvSpPr>
          <p:cNvPr id="23" name="Shape 21"/>
          <p:cNvSpPr/>
          <p:nvPr/>
        </p:nvSpPr>
        <p:spPr>
          <a:xfrm>
            <a:off x="1022350" y="5903516"/>
            <a:ext cx="9925448" cy="12700"/>
          </a:xfrm>
          <a:prstGeom prst="rect">
            <a:avLst/>
          </a:prstGeom>
          <a:solidFill>
            <a:srgbClr val="17203A">
              <a:alpha val="9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098550" y="5354241"/>
            <a:ext cx="4673402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B8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</a:t>
            </a:r>
            <a:r>
              <a:rPr lang="en-US" sz="2025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Road_Type missing</a:t>
            </a:r>
            <a:endParaRPr lang="en-US" sz="2025" dirty="0"/>
          </a:p>
        </p:txBody>
      </p:sp>
      <p:sp>
        <p:nvSpPr>
          <p:cNvPr id="25" name="Text 23"/>
          <p:cNvSpPr/>
          <p:nvPr/>
        </p:nvSpPr>
        <p:spPr>
          <a:xfrm>
            <a:off x="5537597" y="5385991"/>
            <a:ext cx="35623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D6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 "Unknown"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8776097" y="5354241"/>
            <a:ext cx="209550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1,534</a:t>
            </a:r>
            <a:endParaRPr lang="en-US" sz="2025" dirty="0"/>
          </a:p>
        </p:txBody>
      </p:sp>
      <p:sp>
        <p:nvSpPr>
          <p:cNvPr id="27" name="Shape 25"/>
          <p:cNvSpPr/>
          <p:nvPr/>
        </p:nvSpPr>
        <p:spPr>
          <a:xfrm>
            <a:off x="1022350" y="6646466"/>
            <a:ext cx="9925448" cy="12700"/>
          </a:xfrm>
          <a:prstGeom prst="rect">
            <a:avLst/>
          </a:prstGeom>
          <a:solidFill>
            <a:srgbClr val="17203A">
              <a:alpha val="9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098550" y="6097191"/>
            <a:ext cx="4673402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B8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</a:t>
            </a:r>
            <a:r>
              <a:rPr lang="en-US" sz="2025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Road_Surface_Conditions missing</a:t>
            </a:r>
            <a:endParaRPr lang="en-US" sz="2025" dirty="0"/>
          </a:p>
        </p:txBody>
      </p:sp>
      <p:sp>
        <p:nvSpPr>
          <p:cNvPr id="29" name="Text 27"/>
          <p:cNvSpPr/>
          <p:nvPr/>
        </p:nvSpPr>
        <p:spPr>
          <a:xfrm>
            <a:off x="5537597" y="6128941"/>
            <a:ext cx="35623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D6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 "Unknown"</a:t>
            </a:r>
            <a:endParaRPr lang="en-US" sz="1875" dirty="0"/>
          </a:p>
        </p:txBody>
      </p:sp>
      <p:sp>
        <p:nvSpPr>
          <p:cNvPr id="30" name="Text 28"/>
          <p:cNvSpPr/>
          <p:nvPr/>
        </p:nvSpPr>
        <p:spPr>
          <a:xfrm>
            <a:off x="8776097" y="6097191"/>
            <a:ext cx="209550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317</a:t>
            </a:r>
            <a:endParaRPr lang="en-US" sz="2025" dirty="0"/>
          </a:p>
        </p:txBody>
      </p:sp>
      <p:sp>
        <p:nvSpPr>
          <p:cNvPr id="31" name="Shape 29"/>
          <p:cNvSpPr/>
          <p:nvPr/>
        </p:nvSpPr>
        <p:spPr>
          <a:xfrm>
            <a:off x="1022350" y="7389416"/>
            <a:ext cx="9925448" cy="12700"/>
          </a:xfrm>
          <a:prstGeom prst="rect">
            <a:avLst/>
          </a:prstGeom>
          <a:solidFill>
            <a:srgbClr val="17203A">
              <a:alpha val="9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098550" y="6840141"/>
            <a:ext cx="4673402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B8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</a:t>
            </a:r>
            <a:r>
              <a:rPr lang="en-US" sz="2025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Carriageway_Hazards missing</a:t>
            </a:r>
            <a:endParaRPr lang="en-US" sz="2025" dirty="0"/>
          </a:p>
        </p:txBody>
      </p:sp>
      <p:sp>
        <p:nvSpPr>
          <p:cNvPr id="33" name="Text 31"/>
          <p:cNvSpPr/>
          <p:nvPr/>
        </p:nvSpPr>
        <p:spPr>
          <a:xfrm>
            <a:off x="5537597" y="6871891"/>
            <a:ext cx="35623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D6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 "None"</a:t>
            </a:r>
            <a:endParaRPr lang="en-US" sz="1875" dirty="0"/>
          </a:p>
        </p:txBody>
      </p:sp>
      <p:sp>
        <p:nvSpPr>
          <p:cNvPr id="34" name="Text 32"/>
          <p:cNvSpPr/>
          <p:nvPr/>
        </p:nvSpPr>
        <p:spPr>
          <a:xfrm>
            <a:off x="8776097" y="6840141"/>
            <a:ext cx="209550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25" dirty="0"/>
          </a:p>
        </p:txBody>
      </p:sp>
      <p:sp>
        <p:nvSpPr>
          <p:cNvPr id="35" name="Shape 33"/>
          <p:cNvSpPr/>
          <p:nvPr/>
        </p:nvSpPr>
        <p:spPr>
          <a:xfrm>
            <a:off x="1022350" y="8132366"/>
            <a:ext cx="9925448" cy="12700"/>
          </a:xfrm>
          <a:prstGeom prst="rect">
            <a:avLst/>
          </a:prstGeom>
          <a:solidFill>
            <a:srgbClr val="17203A">
              <a:alpha val="9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1098550" y="7583091"/>
            <a:ext cx="4673402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B8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</a:t>
            </a:r>
            <a:r>
              <a:rPr lang="en-US" sz="2025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missing entirely</a:t>
            </a:r>
            <a:endParaRPr lang="en-US" sz="2025" dirty="0"/>
          </a:p>
        </p:txBody>
      </p:sp>
      <p:sp>
        <p:nvSpPr>
          <p:cNvPr id="37" name="Text 35"/>
          <p:cNvSpPr/>
          <p:nvPr/>
        </p:nvSpPr>
        <p:spPr>
          <a:xfrm>
            <a:off x="5537597" y="7614841"/>
            <a:ext cx="35623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D32F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rows</a:t>
            </a:r>
            <a:endParaRPr lang="en-US" sz="1875" dirty="0"/>
          </a:p>
        </p:txBody>
      </p:sp>
      <p:sp>
        <p:nvSpPr>
          <p:cNvPr id="38" name="Text 36"/>
          <p:cNvSpPr/>
          <p:nvPr/>
        </p:nvSpPr>
        <p:spPr>
          <a:xfrm>
            <a:off x="8776097" y="7583091"/>
            <a:ext cx="209550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2025" dirty="0"/>
          </a:p>
        </p:txBody>
      </p:sp>
      <p:sp>
        <p:nvSpPr>
          <p:cNvPr id="39" name="Text 37"/>
          <p:cNvSpPr/>
          <p:nvPr/>
        </p:nvSpPr>
        <p:spPr>
          <a:xfrm>
            <a:off x="1098550" y="8326041"/>
            <a:ext cx="4673402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B8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</a:t>
            </a:r>
            <a:r>
              <a:rPr lang="en-US" sz="2025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record</a:t>
            </a:r>
            <a:endParaRPr lang="en-US" sz="2025" dirty="0"/>
          </a:p>
        </p:txBody>
      </p:sp>
      <p:sp>
        <p:nvSpPr>
          <p:cNvPr id="40" name="Text 38"/>
          <p:cNvSpPr/>
          <p:nvPr/>
        </p:nvSpPr>
        <p:spPr>
          <a:xfrm>
            <a:off x="5537597" y="8357791"/>
            <a:ext cx="35623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D32F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dropDuplicates()</a:t>
            </a:r>
            <a:endParaRPr lang="en-US" sz="1875" dirty="0"/>
          </a:p>
        </p:txBody>
      </p:sp>
      <p:sp>
        <p:nvSpPr>
          <p:cNvPr id="41" name="Text 39"/>
          <p:cNvSpPr/>
          <p:nvPr/>
        </p:nvSpPr>
        <p:spPr>
          <a:xfrm>
            <a:off x="8776097" y="8326041"/>
            <a:ext cx="209550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25" dirty="0"/>
          </a:p>
        </p:txBody>
      </p:sp>
      <p:sp>
        <p:nvSpPr>
          <p:cNvPr id="42" name="Shape 40"/>
          <p:cNvSpPr/>
          <p:nvPr/>
        </p:nvSpPr>
        <p:spPr>
          <a:xfrm>
            <a:off x="11551047" y="2182416"/>
            <a:ext cx="6013053" cy="4451549"/>
          </a:xfrm>
          <a:prstGeom prst="roundRect">
            <a:avLst>
              <a:gd name="adj" fmla="val 2996"/>
            </a:avLst>
          </a:prstGeom>
          <a:solidFill>
            <a:srgbClr val="F4F7FC"/>
          </a:solidFill>
          <a:ln w="12700">
            <a:solidFill>
              <a:srgbClr val="17203A">
                <a:alpha val="13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887598" y="2461816"/>
            <a:ext cx="5873948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2C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 Result</a:t>
            </a:r>
            <a:endParaRPr lang="en-US" sz="2475" dirty="0"/>
          </a:p>
        </p:txBody>
      </p:sp>
      <p:sp>
        <p:nvSpPr>
          <p:cNvPr id="44" name="Text 42"/>
          <p:cNvSpPr/>
          <p:nvPr/>
        </p:nvSpPr>
        <p:spPr>
          <a:xfrm>
            <a:off x="11620600" y="2899172"/>
            <a:ext cx="5873948" cy="6580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90417"/>
              </a:lnSpc>
              <a:buNone/>
            </a:pPr>
            <a:r>
              <a:rPr lang="en-US" sz="4650" b="1" dirty="0">
                <a:solidFill>
                  <a:srgbClr val="B8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307,973</a:t>
            </a:r>
            <a:endParaRPr lang="en-US" sz="4650" dirty="0"/>
          </a:p>
        </p:txBody>
      </p:sp>
      <p:sp>
        <p:nvSpPr>
          <p:cNvPr id="45" name="Text 43"/>
          <p:cNvSpPr/>
          <p:nvPr/>
        </p:nvSpPr>
        <p:spPr>
          <a:xfrm>
            <a:off x="11620600" y="3576241"/>
            <a:ext cx="5873948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before</a:t>
            </a:r>
            <a:endParaRPr lang="en-US" sz="1950" dirty="0"/>
          </a:p>
        </p:txBody>
      </p:sp>
      <p:sp>
        <p:nvSpPr>
          <p:cNvPr id="46" name="Text 44"/>
          <p:cNvSpPr/>
          <p:nvPr/>
        </p:nvSpPr>
        <p:spPr>
          <a:xfrm>
            <a:off x="11620600" y="3988991"/>
            <a:ext cx="587394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3529"/>
              </a:lnSpc>
              <a:buNone/>
            </a:pPr>
            <a:r>
              <a:rPr lang="en-US" sz="3000" dirty="0">
                <a:solidFill>
                  <a:srgbClr val="2C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3000" dirty="0"/>
          </a:p>
        </p:txBody>
      </p:sp>
      <p:sp>
        <p:nvSpPr>
          <p:cNvPr id="47" name="Text 45"/>
          <p:cNvSpPr/>
          <p:nvPr/>
        </p:nvSpPr>
        <p:spPr>
          <a:xfrm>
            <a:off x="11620600" y="4579541"/>
            <a:ext cx="5873948" cy="6580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90417"/>
              </a:lnSpc>
              <a:buNone/>
            </a:pPr>
            <a:r>
              <a:rPr lang="en-US" sz="4650" b="1" dirty="0">
                <a:solidFill>
                  <a:srgbClr val="B8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307,955</a:t>
            </a:r>
            <a:endParaRPr lang="en-US" sz="4650" dirty="0"/>
          </a:p>
        </p:txBody>
      </p:sp>
      <p:sp>
        <p:nvSpPr>
          <p:cNvPr id="48" name="Text 46"/>
          <p:cNvSpPr/>
          <p:nvPr/>
        </p:nvSpPr>
        <p:spPr>
          <a:xfrm>
            <a:off x="11620600" y="5256609"/>
            <a:ext cx="5873948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after</a:t>
            </a:r>
            <a:endParaRPr lang="en-US" sz="1950" dirty="0"/>
          </a:p>
        </p:txBody>
      </p:sp>
      <p:sp>
        <p:nvSpPr>
          <p:cNvPr id="49" name="Shape 47"/>
          <p:cNvSpPr/>
          <p:nvPr/>
        </p:nvSpPr>
        <p:spPr>
          <a:xfrm>
            <a:off x="11887598" y="5827514"/>
            <a:ext cx="5339953" cy="12700"/>
          </a:xfrm>
          <a:prstGeom prst="rect">
            <a:avLst/>
          </a:prstGeom>
          <a:solidFill>
            <a:srgbClr val="17203A">
              <a:alpha val="12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11807498" y="6011664"/>
            <a:ext cx="550015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325" b="1" dirty="0">
                <a:solidFill>
                  <a:srgbClr val="D32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99.994% retention</a:t>
            </a:r>
            <a:endParaRPr lang="en-US" sz="2325" dirty="0"/>
          </a:p>
        </p:txBody>
      </p:sp>
      <p:sp>
        <p:nvSpPr>
          <p:cNvPr id="51" name="Shape 49"/>
          <p:cNvSpPr/>
          <p:nvPr/>
        </p:nvSpPr>
        <p:spPr>
          <a:xfrm>
            <a:off x="11551047" y="6881614"/>
            <a:ext cx="6013053" cy="2871986"/>
          </a:xfrm>
          <a:prstGeom prst="roundRect">
            <a:avLst>
              <a:gd name="adj" fmla="val 4643"/>
            </a:avLst>
          </a:prstGeom>
          <a:solidFill>
            <a:srgbClr val="F4F7FC"/>
          </a:solidFill>
          <a:ln w="12700">
            <a:solidFill>
              <a:srgbClr val="17203A">
                <a:alpha val="13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1887598" y="7283252"/>
            <a:ext cx="587394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2C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2325" dirty="0"/>
          </a:p>
        </p:txBody>
      </p:sp>
      <p:sp>
        <p:nvSpPr>
          <p:cNvPr id="53" name="Text 51"/>
          <p:cNvSpPr/>
          <p:nvPr/>
        </p:nvSpPr>
        <p:spPr>
          <a:xfrm>
            <a:off x="11887598" y="7778552"/>
            <a:ext cx="5873948" cy="3599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217"/>
              </a:lnSpc>
              <a:buNone/>
            </a:pPr>
            <a:r>
              <a:rPr lang="en-US" sz="1950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Rahm and Do (2000)</a:t>
            </a:r>
            <a:endParaRPr lang="en-US" sz="1950" dirty="0"/>
          </a:p>
        </p:txBody>
      </p:sp>
      <p:sp>
        <p:nvSpPr>
          <p:cNvPr id="54" name="Text 52"/>
          <p:cNvSpPr/>
          <p:nvPr/>
        </p:nvSpPr>
        <p:spPr>
          <a:xfrm>
            <a:off x="11887598" y="8195667"/>
            <a:ext cx="5873948" cy="3599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217"/>
              </a:lnSpc>
              <a:buNone/>
            </a:pPr>
            <a:r>
              <a:rPr lang="en-US" sz="1950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5-Phase Cleaning Process</a:t>
            </a:r>
            <a:endParaRPr lang="en-US" sz="1950" dirty="0"/>
          </a:p>
        </p:txBody>
      </p:sp>
      <p:sp>
        <p:nvSpPr>
          <p:cNvPr id="55" name="Text 53"/>
          <p:cNvSpPr/>
          <p:nvPr/>
        </p:nvSpPr>
        <p:spPr>
          <a:xfrm>
            <a:off x="11887598" y="8612783"/>
            <a:ext cx="5873948" cy="3599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217"/>
              </a:lnSpc>
              <a:buNone/>
            </a:pPr>
            <a:r>
              <a:rPr lang="en-US" sz="1950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2×2 Taxonomy Classification</a:t>
            </a:r>
            <a:endParaRPr lang="en-US" sz="1950" dirty="0"/>
          </a:p>
        </p:txBody>
      </p:sp>
      <p:sp>
        <p:nvSpPr>
          <p:cNvPr id="56" name="Text 54"/>
          <p:cNvSpPr/>
          <p:nvPr/>
        </p:nvSpPr>
        <p:spPr>
          <a:xfrm>
            <a:off x="11887598" y="9029899"/>
            <a:ext cx="5873948" cy="3599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217"/>
              </a:lnSpc>
              <a:buNone/>
            </a:pPr>
            <a:r>
              <a:rPr lang="en-US" sz="1950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Exceeds minimum 5 issues required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900" y="495300"/>
            <a:ext cx="2632908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RRSIS — GROUP 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682046" y="495300"/>
            <a:ext cx="958255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23900" y="1022350"/>
            <a:ext cx="18524220" cy="645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653"/>
              </a:lnSpc>
              <a:buNone/>
            </a:pPr>
            <a:r>
              <a:rPr lang="en-US" sz="4350" b="1" kern="0" spc="-65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 — Temporal Analysis: Frequency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723900" y="1820466"/>
            <a:ext cx="914400" cy="38100"/>
          </a:xfrm>
          <a:prstGeom prst="roundRect">
            <a:avLst>
              <a:gd name="adj" fmla="val 50000"/>
            </a:avLst>
          </a:prstGeom>
          <a:solidFill>
            <a:srgbClr val="B87400"/>
          </a:solidFill>
          <a:ln/>
        </p:spPr>
      </p:sp>
      <p:sp>
        <p:nvSpPr>
          <p:cNvPr id="6" name="Shape 4"/>
          <p:cNvSpPr/>
          <p:nvPr/>
        </p:nvSpPr>
        <p:spPr>
          <a:xfrm>
            <a:off x="723900" y="2144316"/>
            <a:ext cx="4024313" cy="1382713"/>
          </a:xfrm>
          <a:prstGeom prst="roundRect">
            <a:avLst>
              <a:gd name="adj" fmla="val 9644"/>
            </a:avLst>
          </a:prstGeom>
          <a:solidFill>
            <a:srgbClr val="F4F7FC"/>
          </a:solidFill>
          <a:ln w="12700">
            <a:solidFill>
              <a:srgbClr val="17203A">
                <a:alpha val="13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3300" y="2385616"/>
            <a:ext cx="3812064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636"/>
              </a:lnSpc>
              <a:buNone/>
            </a:pPr>
            <a:r>
              <a:rPr lang="en-US" sz="3900" b="1" dirty="0">
                <a:solidFill>
                  <a:srgbClr val="B8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17:00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1003300" y="2976166"/>
            <a:ext cx="381206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95"/>
              </a:lnSpc>
              <a:buNone/>
            </a:pPr>
            <a:r>
              <a:rPr lang="en-US" sz="1875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Hour — 26,964 accidents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4995863" y="2144316"/>
            <a:ext cx="4024313" cy="1382713"/>
          </a:xfrm>
          <a:prstGeom prst="roundRect">
            <a:avLst>
              <a:gd name="adj" fmla="val 9644"/>
            </a:avLst>
          </a:prstGeom>
          <a:solidFill>
            <a:srgbClr val="F4F7FC"/>
          </a:solidFill>
          <a:ln w="12700">
            <a:solidFill>
              <a:srgbClr val="17203A">
                <a:alpha val="13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75263" y="2385616"/>
            <a:ext cx="3812064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636"/>
              </a:lnSpc>
              <a:buNone/>
            </a:pPr>
            <a:r>
              <a:rPr lang="en-US" sz="3900" b="1" dirty="0">
                <a:solidFill>
                  <a:srgbClr val="D32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Friday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5275263" y="2976166"/>
            <a:ext cx="381206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95"/>
              </a:lnSpc>
              <a:buNone/>
            </a:pPr>
            <a:r>
              <a:rPr lang="en-US" sz="1875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Day — 50,529 accidents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267825" y="2144316"/>
            <a:ext cx="4024313" cy="1382713"/>
          </a:xfrm>
          <a:prstGeom prst="roundRect">
            <a:avLst>
              <a:gd name="adj" fmla="val 9644"/>
            </a:avLst>
          </a:prstGeom>
          <a:solidFill>
            <a:srgbClr val="F4F7FC"/>
          </a:solidFill>
          <a:ln w="12700">
            <a:solidFill>
              <a:srgbClr val="17203A">
                <a:alpha val="13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47225" y="2385616"/>
            <a:ext cx="3812064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636"/>
              </a:lnSpc>
              <a:buNone/>
            </a:pPr>
            <a:r>
              <a:rPr lang="en-US" sz="3900" b="1" dirty="0">
                <a:solidFill>
                  <a:srgbClr val="2C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November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9547225" y="2976166"/>
            <a:ext cx="381206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95"/>
              </a:lnSpc>
              <a:buNone/>
            </a:pPr>
            <a:r>
              <a:rPr lang="en-US" sz="1875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Month — 29,094 accidents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13539788" y="2144316"/>
            <a:ext cx="4024313" cy="1382713"/>
          </a:xfrm>
          <a:prstGeom prst="roundRect">
            <a:avLst>
              <a:gd name="adj" fmla="val 9644"/>
            </a:avLst>
          </a:prstGeom>
          <a:solidFill>
            <a:srgbClr val="F4F7FC"/>
          </a:solidFill>
          <a:ln w="12700">
            <a:solidFill>
              <a:srgbClr val="17203A">
                <a:alpha val="13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819188" y="2385616"/>
            <a:ext cx="3812064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636"/>
              </a:lnSpc>
              <a:buNone/>
            </a:pPr>
            <a:r>
              <a:rPr lang="en-US" sz="3900" b="1" dirty="0">
                <a:solidFill>
                  <a:srgbClr val="B8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Evening</a:t>
            </a:r>
            <a:endParaRPr lang="en-US" sz="3900" dirty="0"/>
          </a:p>
        </p:txBody>
      </p:sp>
      <p:sp>
        <p:nvSpPr>
          <p:cNvPr id="17" name="Text 15"/>
          <p:cNvSpPr/>
          <p:nvPr/>
        </p:nvSpPr>
        <p:spPr>
          <a:xfrm>
            <a:off x="13819188" y="2976166"/>
            <a:ext cx="381206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95"/>
              </a:lnSpc>
              <a:buNone/>
            </a:pPr>
            <a:r>
              <a:rPr lang="en-US" sz="1875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Period — 88,780 accidents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723900" y="3812778"/>
            <a:ext cx="9499005" cy="4391422"/>
          </a:xfrm>
          <a:prstGeom prst="roundRect">
            <a:avLst>
              <a:gd name="adj" fmla="val 3037"/>
            </a:avLst>
          </a:prstGeom>
          <a:solidFill>
            <a:srgbClr val="FFFFFF"/>
          </a:solidFill>
          <a:ln w="12700">
            <a:solidFill>
              <a:srgbClr val="17203A">
                <a:alpha val="12000"/>
              </a:srgbClr>
            </a:solidFill>
            <a:prstDash val="solid"/>
          </a:ln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rcRect t="-1887" b="-1887"/>
          <a:stretch/>
        </p:blipFill>
        <p:spPr>
          <a:xfrm>
            <a:off x="908050" y="3996928"/>
            <a:ext cx="9130705" cy="402312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23900" y="8337550"/>
            <a:ext cx="10448906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1: Accidents by Hour — peak at 17:00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10527705" y="3812778"/>
            <a:ext cx="7036396" cy="4391422"/>
          </a:xfrm>
          <a:prstGeom prst="roundRect">
            <a:avLst>
              <a:gd name="adj" fmla="val 3037"/>
            </a:avLst>
          </a:prstGeom>
          <a:solidFill>
            <a:srgbClr val="FFFFFF"/>
          </a:solidFill>
          <a:ln w="12700">
            <a:solidFill>
              <a:srgbClr val="17203A">
                <a:alpha val="12000"/>
              </a:srgbClr>
            </a:solidFill>
            <a:prstDash val="solid"/>
          </a:ln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rcRect t="-631" b="-631"/>
          <a:stretch/>
        </p:blipFill>
        <p:spPr>
          <a:xfrm>
            <a:off x="10711855" y="3996928"/>
            <a:ext cx="6668095" cy="402312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0527705" y="8337550"/>
            <a:ext cx="7740035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2: Accidents by Day — Friday highest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723900" y="8902700"/>
            <a:ext cx="16840200" cy="850900"/>
          </a:xfrm>
          <a:prstGeom prst="roundRect">
            <a:avLst>
              <a:gd name="adj" fmla="val 13433"/>
            </a:avLst>
          </a:prstGeom>
          <a:solidFill>
            <a:srgbClr val="F4F7FC"/>
          </a:solidFill>
          <a:ln w="12700">
            <a:solidFill>
              <a:srgbClr val="17203A">
                <a:alpha val="1300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1041400" y="9144000"/>
            <a:ext cx="16710406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Weekdays: 232,848 (75.6%) | Weekends: 75,107 (24.4%) | Top 10 combinations = 36.4% of dataset</a:t>
            </a:r>
            <a:endParaRPr lang="en-US" sz="20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900" y="495300"/>
            <a:ext cx="2632908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RRSIS — GROUP 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682046" y="495300"/>
            <a:ext cx="958255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23900" y="1022350"/>
            <a:ext cx="18524220" cy="645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653"/>
              </a:lnSpc>
              <a:buNone/>
            </a:pPr>
            <a:r>
              <a:rPr lang="en-US" sz="4350" b="1" kern="0" spc="-65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 — The Severity Ratio Reversal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723900" y="1820466"/>
            <a:ext cx="914400" cy="38100"/>
          </a:xfrm>
          <a:prstGeom prst="roundRect">
            <a:avLst>
              <a:gd name="adj" fmla="val 50000"/>
            </a:avLst>
          </a:prstGeom>
          <a:solidFill>
            <a:srgbClr val="B87400"/>
          </a:solidFill>
          <a:ln/>
        </p:spPr>
      </p:sp>
      <p:sp>
        <p:nvSpPr>
          <p:cNvPr id="6" name="Shape 4"/>
          <p:cNvSpPr/>
          <p:nvPr/>
        </p:nvSpPr>
        <p:spPr>
          <a:xfrm>
            <a:off x="723900" y="2182416"/>
            <a:ext cx="9186267" cy="3636764"/>
          </a:xfrm>
          <a:prstGeom prst="roundRect">
            <a:avLst>
              <a:gd name="adj" fmla="val 3667"/>
            </a:avLst>
          </a:prstGeom>
          <a:solidFill>
            <a:srgbClr val="FFFFFF"/>
          </a:solidFill>
          <a:ln w="12700">
            <a:solidFill>
              <a:srgbClr val="17203A">
                <a:alpha val="1200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7303" r="-7303"/>
          <a:stretch/>
        </p:blipFill>
        <p:spPr>
          <a:xfrm>
            <a:off x="908050" y="2366566"/>
            <a:ext cx="8817968" cy="3268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23900" y="5933480"/>
            <a:ext cx="10104894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3: Frequency vs Severity Ratio by Hour — night hours deadliest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23900" y="6498630"/>
            <a:ext cx="9186267" cy="2822972"/>
          </a:xfrm>
          <a:prstGeom prst="roundRect">
            <a:avLst>
              <a:gd name="adj" fmla="val 4724"/>
            </a:avLst>
          </a:prstGeom>
          <a:solidFill>
            <a:srgbClr val="FFFFFF"/>
          </a:solidFill>
          <a:ln w="12700">
            <a:solidFill>
              <a:srgbClr val="17203A">
                <a:alpha val="12000"/>
              </a:srgbClr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-56874" r="-56874"/>
          <a:stretch/>
        </p:blipFill>
        <p:spPr>
          <a:xfrm>
            <a:off x="908050" y="6682780"/>
            <a:ext cx="8817968" cy="24546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3900" y="9435902"/>
            <a:ext cx="10104894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4: Severity Ratio by Time Period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10214967" y="2182416"/>
            <a:ext cx="7349133" cy="7571184"/>
          </a:xfrm>
          <a:prstGeom prst="roundRect">
            <a:avLst>
              <a:gd name="adj" fmla="val 1814"/>
            </a:avLst>
          </a:prstGeom>
          <a:solidFill>
            <a:srgbClr val="F4F7FC"/>
          </a:solidFill>
          <a:ln w="12700">
            <a:solidFill>
              <a:srgbClr val="17203A">
                <a:alpha val="13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0646768" y="2614216"/>
            <a:ext cx="713408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2C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Key Reversal</a:t>
            </a:r>
            <a:endParaRPr lang="en-US" sz="2850" dirty="0"/>
          </a:p>
        </p:txBody>
      </p:sp>
      <p:sp>
        <p:nvSpPr>
          <p:cNvPr id="14" name="Text 10"/>
          <p:cNvSpPr/>
          <p:nvPr/>
        </p:nvSpPr>
        <p:spPr>
          <a:xfrm>
            <a:off x="10646768" y="3395266"/>
            <a:ext cx="7134087" cy="462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330"/>
              </a:lnSpc>
              <a:buNone/>
            </a:pPr>
            <a:r>
              <a:rPr lang="en-US" sz="2475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 has the FEWEST accidents</a:t>
            </a:r>
            <a:endParaRPr lang="en-US" sz="2475" dirty="0"/>
          </a:p>
        </p:txBody>
      </p:sp>
      <p:sp>
        <p:nvSpPr>
          <p:cNvPr id="15" name="Text 11"/>
          <p:cNvSpPr/>
          <p:nvPr/>
        </p:nvSpPr>
        <p:spPr>
          <a:xfrm>
            <a:off x="10646768" y="4124325"/>
            <a:ext cx="7134087" cy="4960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734"/>
              </a:lnSpc>
              <a:buNone/>
            </a:pPr>
            <a:r>
              <a:rPr lang="en-US" sz="2775" b="1" dirty="0">
                <a:solidFill>
                  <a:srgbClr val="D32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the HIGHEST severity ratio</a:t>
            </a:r>
            <a:endParaRPr lang="en-US" sz="2775" dirty="0"/>
          </a:p>
        </p:txBody>
      </p:sp>
      <p:sp>
        <p:nvSpPr>
          <p:cNvPr id="16" name="Shape 12"/>
          <p:cNvSpPr/>
          <p:nvPr/>
        </p:nvSpPr>
        <p:spPr>
          <a:xfrm>
            <a:off x="10646768" y="4887119"/>
            <a:ext cx="6485533" cy="12700"/>
          </a:xfrm>
          <a:prstGeom prst="rect">
            <a:avLst/>
          </a:prstGeom>
          <a:solidFill>
            <a:srgbClr val="17203A">
              <a:alpha val="12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10646768" y="5204619"/>
            <a:ext cx="6680099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81"/>
              </a:lnSpc>
              <a:buNone/>
            </a:pPr>
            <a:r>
              <a:rPr lang="en-US" sz="2625" b="1" dirty="0">
                <a:solidFill>
                  <a:srgbClr val="B8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 04:00 = 1.554 — deadliest single hour</a:t>
            </a:r>
            <a:endParaRPr lang="en-US" sz="2625" dirty="0"/>
          </a:p>
        </p:txBody>
      </p:sp>
      <p:sp>
        <p:nvSpPr>
          <p:cNvPr id="18" name="Text 14"/>
          <p:cNvSpPr/>
          <p:nvPr/>
        </p:nvSpPr>
        <p:spPr>
          <a:xfrm>
            <a:off x="10646768" y="9001919"/>
            <a:ext cx="6680099" cy="357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by Abdelwahab (2001), Mujalli (2011), Delen (2006)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900" y="495300"/>
            <a:ext cx="2632908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RRSIS — GROUP 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682046" y="495300"/>
            <a:ext cx="958255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23900" y="1022350"/>
            <a:ext cx="18524220" cy="645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653"/>
              </a:lnSpc>
              <a:buNone/>
            </a:pPr>
            <a:r>
              <a:rPr lang="en-US" sz="4350" b="1" kern="0" spc="-65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— Accident Severity Index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723900" y="1820466"/>
            <a:ext cx="914400" cy="38100"/>
          </a:xfrm>
          <a:prstGeom prst="roundRect">
            <a:avLst>
              <a:gd name="adj" fmla="val 50000"/>
            </a:avLst>
          </a:prstGeom>
          <a:solidFill>
            <a:srgbClr val="B87400"/>
          </a:solidFill>
          <a:ln/>
        </p:spPr>
      </p:sp>
      <p:sp>
        <p:nvSpPr>
          <p:cNvPr id="6" name="Shape 4"/>
          <p:cNvSpPr/>
          <p:nvPr/>
        </p:nvSpPr>
        <p:spPr>
          <a:xfrm>
            <a:off x="723900" y="2125266"/>
            <a:ext cx="5448300" cy="1324570"/>
          </a:xfrm>
          <a:prstGeom prst="roundRect">
            <a:avLst>
              <a:gd name="adj" fmla="val 10067"/>
            </a:avLst>
          </a:prstGeom>
          <a:solidFill>
            <a:srgbClr val="F4F7FC"/>
          </a:solidFill>
          <a:ln w="12700">
            <a:solidFill>
              <a:srgbClr val="17203A">
                <a:alpha val="13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2350" y="2347516"/>
            <a:ext cx="5336540" cy="4990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526"/>
              </a:lnSpc>
              <a:buNone/>
            </a:pPr>
            <a:r>
              <a:rPr lang="en-US" sz="3300" b="1" dirty="0">
                <a:solidFill>
                  <a:srgbClr val="2C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Slight = 1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022350" y="2884686"/>
            <a:ext cx="53365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263,264 accidents — 85.49%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6419850" y="2125266"/>
            <a:ext cx="5448300" cy="1324570"/>
          </a:xfrm>
          <a:prstGeom prst="roundRect">
            <a:avLst>
              <a:gd name="adj" fmla="val 10067"/>
            </a:avLst>
          </a:prstGeom>
          <a:solidFill>
            <a:srgbClr val="F4F7FC"/>
          </a:solidFill>
          <a:ln w="12700">
            <a:solidFill>
              <a:srgbClr val="17203A">
                <a:alpha val="13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18300" y="2347516"/>
            <a:ext cx="5336540" cy="4990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526"/>
              </a:lnSpc>
              <a:buNone/>
            </a:pPr>
            <a:r>
              <a:rPr lang="en-US" sz="3300" b="1" dirty="0">
                <a:solidFill>
                  <a:srgbClr val="B8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Serious = 3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6718300" y="2884686"/>
            <a:ext cx="53365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40,738 accidents — 13.23%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12115800" y="2125266"/>
            <a:ext cx="5448300" cy="1324570"/>
          </a:xfrm>
          <a:prstGeom prst="roundRect">
            <a:avLst>
              <a:gd name="adj" fmla="val 10067"/>
            </a:avLst>
          </a:prstGeom>
          <a:solidFill>
            <a:srgbClr val="F4F7FC"/>
          </a:solidFill>
          <a:ln w="12700">
            <a:solidFill>
              <a:srgbClr val="17203A">
                <a:alpha val="13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14250" y="2347516"/>
            <a:ext cx="5336540" cy="4990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526"/>
              </a:lnSpc>
              <a:buNone/>
            </a:pPr>
            <a:r>
              <a:rPr lang="en-US" sz="3300" b="1" dirty="0">
                <a:solidFill>
                  <a:srgbClr val="D32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Fatal = 5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2414250" y="2884686"/>
            <a:ext cx="53365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3,953 accidents — 1.28%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723900" y="3659386"/>
            <a:ext cx="16840200" cy="749300"/>
          </a:xfrm>
          <a:prstGeom prst="roundRect">
            <a:avLst>
              <a:gd name="adj" fmla="val 15254"/>
            </a:avLst>
          </a:prstGeom>
          <a:solidFill>
            <a:srgbClr val="F4F7FC"/>
          </a:solidFill>
          <a:ln w="12700">
            <a:solidFill>
              <a:srgbClr val="17203A">
                <a:alpha val="13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2350" y="3862586"/>
            <a:ext cx="1674850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 justified by: Ordinality (Savolainen 2011) | Class Imbalance (Delen 2006) | Reporting Bias (Savolainen 2011)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723900" y="4656336"/>
            <a:ext cx="9019183" cy="2678708"/>
          </a:xfrm>
          <a:prstGeom prst="roundRect">
            <a:avLst>
              <a:gd name="adj" fmla="val 4978"/>
            </a:avLst>
          </a:prstGeom>
          <a:solidFill>
            <a:srgbClr val="FFFFFF"/>
          </a:solidFill>
          <a:ln w="12700">
            <a:solidFill>
              <a:srgbClr val="17203A">
                <a:alpha val="12000"/>
              </a:srgbClr>
            </a:solidFill>
            <a:prstDash val="solid"/>
          </a:ln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rcRect l="-29220" r="-29220"/>
          <a:stretch/>
        </p:blipFill>
        <p:spPr>
          <a:xfrm>
            <a:off x="908050" y="4840486"/>
            <a:ext cx="8650883" cy="231040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23900" y="7449344"/>
            <a:ext cx="9921102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5: Top 10 Locations by Severity Score — Birmingham 7,805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723900" y="7938294"/>
            <a:ext cx="9019183" cy="1815306"/>
          </a:xfrm>
          <a:prstGeom prst="roundRect">
            <a:avLst>
              <a:gd name="adj" fmla="val 7346"/>
            </a:avLst>
          </a:prstGeom>
          <a:solidFill>
            <a:srgbClr val="F4F7FC"/>
          </a:solidFill>
          <a:ln w="12700">
            <a:solidFill>
              <a:srgbClr val="17203A">
                <a:alpha val="13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03300" y="8160544"/>
            <a:ext cx="9306421" cy="384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457"/>
              </a:lnSpc>
              <a:buNone/>
            </a:pPr>
            <a:r>
              <a:rPr lang="en-US" sz="1950" b="1" dirty="0">
                <a:solidFill>
                  <a:srgbClr val="2C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Birmingham </a:t>
            </a:r>
            <a:r>
              <a:rPr lang="en-US" sz="1950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6,165 accidents · 57 fatalities · ratio 1.266</a:t>
            </a:r>
            <a:endParaRPr lang="en-US" sz="1950" dirty="0"/>
          </a:p>
        </p:txBody>
      </p:sp>
      <p:sp>
        <p:nvSpPr>
          <p:cNvPr id="22" name="Text 19"/>
          <p:cNvSpPr/>
          <p:nvPr/>
        </p:nvSpPr>
        <p:spPr>
          <a:xfrm>
            <a:off x="1003300" y="8621713"/>
            <a:ext cx="9306421" cy="384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457"/>
              </a:lnSpc>
              <a:buNone/>
            </a:pPr>
            <a:r>
              <a:rPr lang="en-US" sz="1950" b="1" dirty="0">
                <a:solidFill>
                  <a:srgbClr val="D32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Westminster </a:t>
            </a:r>
            <a:r>
              <a:rPr lang="en-US" sz="1950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2,811 accidents · </a:t>
            </a:r>
            <a:r>
              <a:rPr lang="en-US" sz="1950" b="1" dirty="0">
                <a:solidFill>
                  <a:srgbClr val="D32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189 fatalities </a:t>
            </a:r>
            <a:r>
              <a:rPr lang="en-US" sz="1950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ratio </a:t>
            </a:r>
            <a:r>
              <a:rPr lang="en-US" sz="1950" b="1" dirty="0">
                <a:solidFill>
                  <a:srgbClr val="B8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1.544</a:t>
            </a:r>
            <a:endParaRPr lang="en-US" sz="1950" dirty="0"/>
          </a:p>
        </p:txBody>
      </p:sp>
      <p:sp>
        <p:nvSpPr>
          <p:cNvPr id="23" name="Shape 20"/>
          <p:cNvSpPr/>
          <p:nvPr/>
        </p:nvSpPr>
        <p:spPr>
          <a:xfrm>
            <a:off x="1003300" y="9082882"/>
            <a:ext cx="8460383" cy="12700"/>
          </a:xfrm>
          <a:prstGeom prst="rect">
            <a:avLst/>
          </a:prstGeom>
          <a:solidFill>
            <a:srgbClr val="17203A">
              <a:alpha val="12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1003300" y="9209882"/>
            <a:ext cx="8714194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57"/>
              </a:lnSpc>
              <a:buNone/>
            </a:pPr>
            <a:r>
              <a:rPr lang="en-US" sz="1875" dirty="0">
                <a:solidFill>
                  <a:srgbClr val="B8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than half the accidents — more than 3× the fatalities. Frequency ≠ Severity.</a:t>
            </a:r>
            <a:endParaRPr lang="en-US" sz="1875" dirty="0"/>
          </a:p>
        </p:txBody>
      </p:sp>
      <p:sp>
        <p:nvSpPr>
          <p:cNvPr id="25" name="Shape 22"/>
          <p:cNvSpPr/>
          <p:nvPr/>
        </p:nvSpPr>
        <p:spPr>
          <a:xfrm>
            <a:off x="10047883" y="4656336"/>
            <a:ext cx="7516217" cy="4665464"/>
          </a:xfrm>
          <a:prstGeom prst="roundRect">
            <a:avLst>
              <a:gd name="adj" fmla="val 2858"/>
            </a:avLst>
          </a:prstGeom>
          <a:solidFill>
            <a:srgbClr val="FFFFFF"/>
          </a:solidFill>
          <a:ln w="12700">
            <a:solidFill>
              <a:srgbClr val="17203A">
                <a:alpha val="12000"/>
              </a:srgbClr>
            </a:solidFill>
            <a:prstDash val="solid"/>
          </a:ln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rcRect l="-19277" r="-19277"/>
          <a:stretch/>
        </p:blipFill>
        <p:spPr>
          <a:xfrm>
            <a:off x="10232034" y="4840486"/>
            <a:ext cx="7147917" cy="4297164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0047883" y="9436100"/>
            <a:ext cx="8267839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6: Single carriageway dominates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900" y="495300"/>
            <a:ext cx="2632908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RRSIS — GROUP 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682046" y="495300"/>
            <a:ext cx="958255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23900" y="1022350"/>
            <a:ext cx="18524220" cy="6246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250"/>
              </a:lnSpc>
              <a:buNone/>
            </a:pPr>
            <a:r>
              <a:rPr lang="en-US" sz="4200" b="1" kern="0" spc="-63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5 — Dangerous Factor Combination Analysis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723900" y="1799431"/>
            <a:ext cx="914400" cy="38100"/>
          </a:xfrm>
          <a:prstGeom prst="roundRect">
            <a:avLst>
              <a:gd name="adj" fmla="val 50000"/>
            </a:avLst>
          </a:prstGeom>
          <a:solidFill>
            <a:srgbClr val="B87400"/>
          </a:solidFill>
          <a:ln/>
        </p:spPr>
      </p:sp>
      <p:sp>
        <p:nvSpPr>
          <p:cNvPr id="6" name="Shape 4"/>
          <p:cNvSpPr/>
          <p:nvPr/>
        </p:nvSpPr>
        <p:spPr>
          <a:xfrm>
            <a:off x="723900" y="2123281"/>
            <a:ext cx="9702403" cy="5757069"/>
          </a:xfrm>
          <a:prstGeom prst="roundRect">
            <a:avLst>
              <a:gd name="adj" fmla="val 2316"/>
            </a:avLst>
          </a:prstGeom>
          <a:solidFill>
            <a:srgbClr val="FFFFFF"/>
          </a:solidFill>
          <a:ln w="12700">
            <a:solidFill>
              <a:srgbClr val="17203A">
                <a:alpha val="1200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7983" b="-7983"/>
          <a:stretch/>
        </p:blipFill>
        <p:spPr>
          <a:xfrm>
            <a:off x="908050" y="2307431"/>
            <a:ext cx="9334104" cy="538876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23900" y="7994650"/>
            <a:ext cx="1067264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7: Top 10 Combinations — Single carriageway + Car dominates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23900" y="8502650"/>
            <a:ext cx="9702403" cy="1250950"/>
          </a:xfrm>
          <a:prstGeom prst="roundRect">
            <a:avLst>
              <a:gd name="adj" fmla="val 10660"/>
            </a:avLst>
          </a:prstGeom>
          <a:solidFill>
            <a:srgbClr val="F4F7FC"/>
          </a:solidFill>
          <a:ln w="12700">
            <a:solidFill>
              <a:srgbClr val="17203A">
                <a:alpha val="13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22350" y="8743950"/>
            <a:ext cx="1001605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C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Factors Analysed Simultaneously: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022350" y="9144000"/>
            <a:ext cx="10016054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Type | Speed | Weather | Surface | Time Period | Vehicle</a:t>
            </a:r>
            <a:endParaRPr lang="en-US" sz="2025" dirty="0"/>
          </a:p>
        </p:txBody>
      </p:sp>
      <p:sp>
        <p:nvSpPr>
          <p:cNvPr id="12" name="Shape 9"/>
          <p:cNvSpPr/>
          <p:nvPr/>
        </p:nvSpPr>
        <p:spPr>
          <a:xfrm>
            <a:off x="10731103" y="2123281"/>
            <a:ext cx="6832997" cy="2114550"/>
          </a:xfrm>
          <a:prstGeom prst="roundRect">
            <a:avLst>
              <a:gd name="adj" fmla="val 6306"/>
            </a:avLst>
          </a:prstGeom>
          <a:solidFill>
            <a:srgbClr val="F4F7FC"/>
          </a:solidFill>
          <a:ln/>
        </p:spPr>
      </p:sp>
      <p:sp>
        <p:nvSpPr>
          <p:cNvPr id="13" name="Shape 10"/>
          <p:cNvSpPr/>
          <p:nvPr/>
        </p:nvSpPr>
        <p:spPr>
          <a:xfrm>
            <a:off x="10731103" y="4225131"/>
            <a:ext cx="6832997" cy="12700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10731103" y="2123281"/>
            <a:ext cx="6832997" cy="12700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10731103" y="2123281"/>
            <a:ext cx="38100" cy="2114550"/>
          </a:xfrm>
          <a:prstGeom prst="rect">
            <a:avLst/>
          </a:prstGeom>
          <a:solidFill>
            <a:srgbClr val="D32F4F"/>
          </a:solidFill>
          <a:ln/>
        </p:spPr>
      </p:sp>
      <p:sp>
        <p:nvSpPr>
          <p:cNvPr id="16" name="Shape 13"/>
          <p:cNvSpPr/>
          <p:nvPr/>
        </p:nvSpPr>
        <p:spPr>
          <a:xfrm>
            <a:off x="17551400" y="2123281"/>
            <a:ext cx="12700" cy="2114550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11054953" y="2364581"/>
            <a:ext cx="683176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D32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Counter-Intuitive Finding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11054953" y="2802731"/>
            <a:ext cx="6831767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of top 10 combinations occur in</a:t>
            </a:r>
            <a:endParaRPr lang="en-US" sz="2025" dirty="0"/>
          </a:p>
        </p:txBody>
      </p:sp>
      <p:sp>
        <p:nvSpPr>
          <p:cNvPr id="19" name="Text 16"/>
          <p:cNvSpPr/>
          <p:nvPr/>
        </p:nvSpPr>
        <p:spPr>
          <a:xfrm>
            <a:off x="11054953" y="3247231"/>
            <a:ext cx="6831767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D32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 WEATHER + DRY ROADS</a:t>
            </a:r>
            <a:endParaRPr lang="en-US" sz="2175" dirty="0"/>
          </a:p>
        </p:txBody>
      </p:sp>
      <p:sp>
        <p:nvSpPr>
          <p:cNvPr id="20" name="Text 17"/>
          <p:cNvSpPr/>
          <p:nvPr/>
        </p:nvSpPr>
        <p:spPr>
          <a:xfrm>
            <a:off x="11054953" y="3653631"/>
            <a:ext cx="683176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rain. Not ice. Ordinary conditions.</a:t>
            </a:r>
            <a:endParaRPr lang="en-US" sz="1875" dirty="0"/>
          </a:p>
        </p:txBody>
      </p:sp>
      <p:sp>
        <p:nvSpPr>
          <p:cNvPr id="21" name="Shape 18"/>
          <p:cNvSpPr/>
          <p:nvPr/>
        </p:nvSpPr>
        <p:spPr>
          <a:xfrm>
            <a:off x="10731103" y="4447381"/>
            <a:ext cx="6832997" cy="2152650"/>
          </a:xfrm>
          <a:prstGeom prst="roundRect">
            <a:avLst>
              <a:gd name="adj" fmla="val 6195"/>
            </a:avLst>
          </a:prstGeom>
          <a:solidFill>
            <a:srgbClr val="F4F7FC"/>
          </a:solidFill>
          <a:ln/>
        </p:spPr>
      </p:sp>
      <p:sp>
        <p:nvSpPr>
          <p:cNvPr id="22" name="Shape 19"/>
          <p:cNvSpPr/>
          <p:nvPr/>
        </p:nvSpPr>
        <p:spPr>
          <a:xfrm>
            <a:off x="10731103" y="6587331"/>
            <a:ext cx="6832997" cy="12700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0731103" y="4447381"/>
            <a:ext cx="6832997" cy="12700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10731103" y="4447381"/>
            <a:ext cx="38100" cy="2152650"/>
          </a:xfrm>
          <a:prstGeom prst="rect">
            <a:avLst/>
          </a:prstGeom>
          <a:solidFill>
            <a:srgbClr val="2C6CA8"/>
          </a:solidFill>
          <a:ln/>
        </p:spPr>
      </p:sp>
      <p:sp>
        <p:nvSpPr>
          <p:cNvPr id="25" name="Shape 22"/>
          <p:cNvSpPr/>
          <p:nvPr/>
        </p:nvSpPr>
        <p:spPr>
          <a:xfrm>
            <a:off x="17551400" y="4447381"/>
            <a:ext cx="12700" cy="2152650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11054953" y="4688681"/>
            <a:ext cx="683176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C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Matters More</a:t>
            </a:r>
            <a:endParaRPr lang="en-US" sz="2100" dirty="0"/>
          </a:p>
        </p:txBody>
      </p:sp>
      <p:sp>
        <p:nvSpPr>
          <p:cNvPr id="27" name="Text 24"/>
          <p:cNvSpPr/>
          <p:nvPr/>
        </p:nvSpPr>
        <p:spPr>
          <a:xfrm>
            <a:off x="11054953" y="5126831"/>
            <a:ext cx="6831767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mph severity ratio </a:t>
            </a:r>
            <a:r>
              <a:rPr lang="en-US" sz="2025" b="1" dirty="0">
                <a:solidFill>
                  <a:srgbClr val="B8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1.610</a:t>
            </a:r>
            <a:endParaRPr lang="en-US" sz="2025" dirty="0"/>
          </a:p>
        </p:txBody>
      </p:sp>
      <p:sp>
        <p:nvSpPr>
          <p:cNvPr id="28" name="Text 25"/>
          <p:cNvSpPr/>
          <p:nvPr/>
        </p:nvSpPr>
        <p:spPr>
          <a:xfrm>
            <a:off x="11054953" y="5571331"/>
            <a:ext cx="6831767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mph severity ratio </a:t>
            </a:r>
            <a:r>
              <a:rPr lang="en-US" sz="2025" b="1" dirty="0">
                <a:solidFill>
                  <a:srgbClr val="B8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1.285</a:t>
            </a:r>
            <a:endParaRPr lang="en-US" sz="2025" dirty="0"/>
          </a:p>
        </p:txBody>
      </p:sp>
      <p:sp>
        <p:nvSpPr>
          <p:cNvPr id="29" name="Text 26"/>
          <p:cNvSpPr/>
          <p:nvPr/>
        </p:nvSpPr>
        <p:spPr>
          <a:xfrm>
            <a:off x="11054953" y="6015832"/>
            <a:ext cx="683176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20–26% more harmful per accident</a:t>
            </a:r>
            <a:endParaRPr lang="en-US" sz="1875" dirty="0"/>
          </a:p>
        </p:txBody>
      </p:sp>
      <p:sp>
        <p:nvSpPr>
          <p:cNvPr id="30" name="Shape 27"/>
          <p:cNvSpPr/>
          <p:nvPr/>
        </p:nvSpPr>
        <p:spPr>
          <a:xfrm>
            <a:off x="10731103" y="6809581"/>
            <a:ext cx="6832997" cy="2094706"/>
          </a:xfrm>
          <a:prstGeom prst="roundRect">
            <a:avLst>
              <a:gd name="adj" fmla="val 6366"/>
            </a:avLst>
          </a:prstGeom>
          <a:solidFill>
            <a:srgbClr val="F4F7FC"/>
          </a:solidFill>
          <a:ln/>
        </p:spPr>
      </p:sp>
      <p:sp>
        <p:nvSpPr>
          <p:cNvPr id="31" name="Shape 28"/>
          <p:cNvSpPr/>
          <p:nvPr/>
        </p:nvSpPr>
        <p:spPr>
          <a:xfrm>
            <a:off x="10731103" y="8891588"/>
            <a:ext cx="6832997" cy="12700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10731103" y="6809581"/>
            <a:ext cx="6832997" cy="12700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10731103" y="6809581"/>
            <a:ext cx="38100" cy="2094706"/>
          </a:xfrm>
          <a:prstGeom prst="rect">
            <a:avLst/>
          </a:prstGeom>
          <a:solidFill>
            <a:srgbClr val="B87400"/>
          </a:solidFill>
          <a:ln/>
        </p:spPr>
      </p:sp>
      <p:sp>
        <p:nvSpPr>
          <p:cNvPr id="34" name="Shape 31"/>
          <p:cNvSpPr/>
          <p:nvPr/>
        </p:nvSpPr>
        <p:spPr>
          <a:xfrm>
            <a:off x="17551400" y="6809581"/>
            <a:ext cx="12700" cy="2094706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35" name="Text 32"/>
          <p:cNvSpPr/>
          <p:nvPr/>
        </p:nvSpPr>
        <p:spPr>
          <a:xfrm>
            <a:off x="11054953" y="7091561"/>
            <a:ext cx="683176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B8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2100" dirty="0"/>
          </a:p>
        </p:txBody>
      </p:sp>
      <p:sp>
        <p:nvSpPr>
          <p:cNvPr id="36" name="Text 33"/>
          <p:cNvSpPr/>
          <p:nvPr/>
        </p:nvSpPr>
        <p:spPr>
          <a:xfrm>
            <a:off x="11054953" y="7529711"/>
            <a:ext cx="6397018" cy="11306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61"/>
              </a:lnSpc>
              <a:buNone/>
            </a:pPr>
            <a:r>
              <a:rPr lang="en-US" sz="2025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combinations = </a:t>
            </a:r>
            <a:r>
              <a:rPr lang="en-US" sz="2025" b="1" dirty="0">
                <a:solidFill>
                  <a:srgbClr val="B8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36.4% </a:t>
            </a:r>
            <a:r>
              <a:rPr lang="en-US" sz="2025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entire dataset — a small set of conditions causes more than a third of all accidents</a:t>
            </a:r>
            <a:endParaRPr lang="en-US" sz="2025" dirty="0"/>
          </a:p>
        </p:txBody>
      </p:sp>
      <p:sp>
        <p:nvSpPr>
          <p:cNvPr id="37" name="Text 34"/>
          <p:cNvSpPr/>
          <p:nvPr/>
        </p:nvSpPr>
        <p:spPr>
          <a:xfrm>
            <a:off x="10731103" y="9113838"/>
            <a:ext cx="7037987" cy="677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with Abdelwahab (p=0.556), Mujalli (0.4653 vs 0.3124), Delen (excluded weather)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900" y="495300"/>
            <a:ext cx="2632908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RRSIS — GROUP 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682046" y="495300"/>
            <a:ext cx="958255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23900" y="1022350"/>
            <a:ext cx="18524220" cy="645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653"/>
              </a:lnSpc>
              <a:buNone/>
            </a:pPr>
            <a:r>
              <a:rPr lang="en-US" sz="4350" b="1" kern="0" spc="-65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6 — Window Function Location Ranking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723900" y="1820466"/>
            <a:ext cx="914400" cy="38100"/>
          </a:xfrm>
          <a:prstGeom prst="roundRect">
            <a:avLst>
              <a:gd name="adj" fmla="val 50000"/>
            </a:avLst>
          </a:prstGeom>
          <a:solidFill>
            <a:srgbClr val="B87400"/>
          </a:solidFill>
          <a:ln/>
        </p:spPr>
      </p:sp>
      <p:sp>
        <p:nvSpPr>
          <p:cNvPr id="6" name="Shape 4"/>
          <p:cNvSpPr/>
          <p:nvPr/>
        </p:nvSpPr>
        <p:spPr>
          <a:xfrm>
            <a:off x="723900" y="2144316"/>
            <a:ext cx="9186267" cy="4739878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 w="12700">
            <a:solidFill>
              <a:srgbClr val="17203A">
                <a:alpha val="1200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8409" b="-8409"/>
          <a:stretch/>
        </p:blipFill>
        <p:spPr>
          <a:xfrm>
            <a:off x="908050" y="2328466"/>
            <a:ext cx="8817968" cy="437157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23900" y="6998494"/>
            <a:ext cx="10104894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8: Top 3 Locations per Urban/Rural Category using dense_rank()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23900" y="7506494"/>
            <a:ext cx="9186267" cy="2247106"/>
          </a:xfrm>
          <a:prstGeom prst="roundRect">
            <a:avLst>
              <a:gd name="adj" fmla="val 5934"/>
            </a:avLst>
          </a:prstGeom>
          <a:solidFill>
            <a:srgbClr val="F4F7FC"/>
          </a:solidFill>
          <a:ln w="12700">
            <a:solidFill>
              <a:srgbClr val="17203A">
                <a:alpha val="13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41400" y="7766844"/>
            <a:ext cx="9406394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C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dense_rank() not rank() or row_number()?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1041400" y="8249444"/>
            <a:ext cx="9406394" cy="372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57"/>
              </a:lnSpc>
              <a:buNone/>
            </a:pPr>
            <a:r>
              <a:rPr lang="en-US" sz="1875" dirty="0">
                <a:solidFill>
                  <a:srgbClr val="5D6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row_number() </a:t>
            </a:r>
            <a:r>
              <a:rPr lang="en-US" sz="1875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breaks ties randomly — inconsistent results</a:t>
            </a:r>
            <a:endParaRPr lang="en-US" sz="1875" dirty="0"/>
          </a:p>
        </p:txBody>
      </p:sp>
      <p:sp>
        <p:nvSpPr>
          <p:cNvPr id="12" name="Text 9"/>
          <p:cNvSpPr/>
          <p:nvPr/>
        </p:nvSpPr>
        <p:spPr>
          <a:xfrm>
            <a:off x="1041400" y="8697913"/>
            <a:ext cx="9406394" cy="372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57"/>
              </a:lnSpc>
              <a:buNone/>
            </a:pPr>
            <a:r>
              <a:rPr lang="en-US" sz="1875" dirty="0">
                <a:solidFill>
                  <a:srgbClr val="5D6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rank() </a:t>
            </a:r>
            <a:r>
              <a:rPr lang="en-US" sz="1875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skips numbers after ties — filter ≤3 may return only 2</a:t>
            </a:r>
            <a:endParaRPr lang="en-US" sz="1875" dirty="0"/>
          </a:p>
        </p:txBody>
      </p:sp>
      <p:sp>
        <p:nvSpPr>
          <p:cNvPr id="13" name="Text 10"/>
          <p:cNvSpPr/>
          <p:nvPr/>
        </p:nvSpPr>
        <p:spPr>
          <a:xfrm>
            <a:off x="1041400" y="9146381"/>
            <a:ext cx="9406394" cy="384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57"/>
              </a:lnSpc>
              <a:buNone/>
            </a:pPr>
            <a:r>
              <a:rPr lang="en-US" sz="1875" b="1" dirty="0">
                <a:solidFill>
                  <a:srgbClr val="B87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dense_rank() </a:t>
            </a:r>
            <a:r>
              <a:rPr lang="en-US" sz="1875" b="1" dirty="0">
                <a:solidFill>
                  <a:srgbClr val="B8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handles ties, never skips — always returns top 3 ✓</a:t>
            </a:r>
            <a:endParaRPr lang="en-US" sz="1875" dirty="0"/>
          </a:p>
        </p:txBody>
      </p:sp>
      <p:sp>
        <p:nvSpPr>
          <p:cNvPr id="14" name="Shape 11"/>
          <p:cNvSpPr/>
          <p:nvPr/>
        </p:nvSpPr>
        <p:spPr>
          <a:xfrm>
            <a:off x="10214967" y="2144316"/>
            <a:ext cx="7349133" cy="2152650"/>
          </a:xfrm>
          <a:prstGeom prst="roundRect">
            <a:avLst>
              <a:gd name="adj" fmla="val 6195"/>
            </a:avLst>
          </a:prstGeom>
          <a:solidFill>
            <a:srgbClr val="F4F7FC"/>
          </a:solidFill>
          <a:ln w="12700">
            <a:solidFill>
              <a:srgbClr val="17203A">
                <a:alpha val="13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513418" y="2385616"/>
            <a:ext cx="742745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2C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Top 3</a:t>
            </a:r>
            <a:endParaRPr lang="en-US" sz="2325" dirty="0"/>
          </a:p>
        </p:txBody>
      </p:sp>
      <p:sp>
        <p:nvSpPr>
          <p:cNvPr id="16" name="Text 13"/>
          <p:cNvSpPr/>
          <p:nvPr/>
        </p:nvSpPr>
        <p:spPr>
          <a:xfrm>
            <a:off x="10513418" y="2861866"/>
            <a:ext cx="7427457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Birmingham — Severity 7,717 — Ratio 1.265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10513418" y="3312716"/>
            <a:ext cx="7427457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D32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Westminster — Severity 4,341 — Ratio 1.544</a:t>
            </a:r>
            <a:endParaRPr lang="en-US" sz="1950" dirty="0"/>
          </a:p>
        </p:txBody>
      </p:sp>
      <p:sp>
        <p:nvSpPr>
          <p:cNvPr id="18" name="Text 15"/>
          <p:cNvSpPr/>
          <p:nvPr/>
        </p:nvSpPr>
        <p:spPr>
          <a:xfrm>
            <a:off x="10513418" y="3700066"/>
            <a:ext cx="7427457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Leeds — Severity 4,231 — Ratio 1.271</a:t>
            </a:r>
            <a:endParaRPr lang="en-US" sz="1950" dirty="0"/>
          </a:p>
        </p:txBody>
      </p:sp>
      <p:sp>
        <p:nvSpPr>
          <p:cNvPr id="19" name="Shape 16"/>
          <p:cNvSpPr/>
          <p:nvPr/>
        </p:nvSpPr>
        <p:spPr>
          <a:xfrm>
            <a:off x="10214967" y="4506516"/>
            <a:ext cx="7349133" cy="2152650"/>
          </a:xfrm>
          <a:prstGeom prst="roundRect">
            <a:avLst>
              <a:gd name="adj" fmla="val 6195"/>
            </a:avLst>
          </a:prstGeom>
          <a:solidFill>
            <a:srgbClr val="F4F7FC"/>
          </a:solidFill>
          <a:ln w="12700">
            <a:solidFill>
              <a:srgbClr val="17203A">
                <a:alpha val="13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513418" y="4747816"/>
            <a:ext cx="742745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B8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Rural Top 3</a:t>
            </a:r>
            <a:endParaRPr lang="en-US" sz="2325" dirty="0"/>
          </a:p>
        </p:txBody>
      </p:sp>
      <p:sp>
        <p:nvSpPr>
          <p:cNvPr id="21" name="Text 18"/>
          <p:cNvSpPr/>
          <p:nvPr/>
        </p:nvSpPr>
        <p:spPr>
          <a:xfrm>
            <a:off x="10513418" y="5224066"/>
            <a:ext cx="7427457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Cornwall — Severity 2,584 — Ratio 1.297</a:t>
            </a:r>
            <a:endParaRPr lang="en-US" sz="1950" dirty="0"/>
          </a:p>
        </p:txBody>
      </p:sp>
      <p:sp>
        <p:nvSpPr>
          <p:cNvPr id="22" name="Text 19"/>
          <p:cNvSpPr/>
          <p:nvPr/>
        </p:nvSpPr>
        <p:spPr>
          <a:xfrm>
            <a:off x="10513418" y="5674916"/>
            <a:ext cx="7427457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County Durham — Severity 1,903 — Ratio 1.339</a:t>
            </a:r>
            <a:endParaRPr lang="en-US" sz="1950" dirty="0"/>
          </a:p>
        </p:txBody>
      </p:sp>
      <p:sp>
        <p:nvSpPr>
          <p:cNvPr id="23" name="Text 20"/>
          <p:cNvSpPr/>
          <p:nvPr/>
        </p:nvSpPr>
        <p:spPr>
          <a:xfrm>
            <a:off x="10513418" y="6125766"/>
            <a:ext cx="7427457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D32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Wiltshire — Severity 1,816 — Ratio 1.568</a:t>
            </a:r>
            <a:endParaRPr lang="en-US" sz="1950" dirty="0"/>
          </a:p>
        </p:txBody>
      </p:sp>
      <p:sp>
        <p:nvSpPr>
          <p:cNvPr id="24" name="Shape 21"/>
          <p:cNvSpPr/>
          <p:nvPr/>
        </p:nvSpPr>
        <p:spPr>
          <a:xfrm>
            <a:off x="10214967" y="6868716"/>
            <a:ext cx="7349133" cy="2055813"/>
          </a:xfrm>
          <a:prstGeom prst="roundRect">
            <a:avLst>
              <a:gd name="adj" fmla="val 6486"/>
            </a:avLst>
          </a:prstGeom>
          <a:solidFill>
            <a:srgbClr val="F4F7FC"/>
          </a:solidFill>
          <a:ln/>
        </p:spPr>
      </p:sp>
      <p:sp>
        <p:nvSpPr>
          <p:cNvPr id="25" name="Shape 22"/>
          <p:cNvSpPr/>
          <p:nvPr/>
        </p:nvSpPr>
        <p:spPr>
          <a:xfrm>
            <a:off x="10214967" y="8911828"/>
            <a:ext cx="7349133" cy="12700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10214967" y="6868716"/>
            <a:ext cx="7349133" cy="12700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10214967" y="6868716"/>
            <a:ext cx="38100" cy="2055813"/>
          </a:xfrm>
          <a:prstGeom prst="rect">
            <a:avLst/>
          </a:prstGeom>
          <a:solidFill>
            <a:srgbClr val="D32F4F"/>
          </a:solidFill>
          <a:ln/>
        </p:spPr>
      </p:sp>
      <p:sp>
        <p:nvSpPr>
          <p:cNvPr id="28" name="Shape 25"/>
          <p:cNvSpPr/>
          <p:nvPr/>
        </p:nvSpPr>
        <p:spPr>
          <a:xfrm>
            <a:off x="17551400" y="6868716"/>
            <a:ext cx="12700" cy="2055813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10538817" y="7110016"/>
            <a:ext cx="7399516" cy="3599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217"/>
              </a:lnSpc>
              <a:buNone/>
            </a:pPr>
            <a:r>
              <a:rPr lang="en-US" sz="1950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Wiltshire: only 1,158 accidents</a:t>
            </a:r>
            <a:endParaRPr lang="en-US" sz="1950" dirty="0"/>
          </a:p>
        </p:txBody>
      </p:sp>
      <p:sp>
        <p:nvSpPr>
          <p:cNvPr id="30" name="Text 27"/>
          <p:cNvSpPr/>
          <p:nvPr/>
        </p:nvSpPr>
        <p:spPr>
          <a:xfrm>
            <a:off x="10538817" y="7527131"/>
            <a:ext cx="7399516" cy="3599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217"/>
              </a:lnSpc>
              <a:buNone/>
            </a:pPr>
            <a:r>
              <a:rPr lang="en-US" sz="1950" b="1" dirty="0">
                <a:solidFill>
                  <a:srgbClr val="D32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 1.568 — 2nd highest in entire table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38817" y="7944247"/>
            <a:ext cx="7399516" cy="3599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217"/>
              </a:lnSpc>
              <a:buNone/>
            </a:pPr>
            <a:r>
              <a:rPr lang="en-US" sz="1950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NEVER appear in a national ranking</a:t>
            </a:r>
            <a:endParaRPr lang="en-US" sz="1950" dirty="0"/>
          </a:p>
        </p:txBody>
      </p:sp>
      <p:sp>
        <p:nvSpPr>
          <p:cNvPr id="32" name="Text 29"/>
          <p:cNvSpPr/>
          <p:nvPr/>
        </p:nvSpPr>
        <p:spPr>
          <a:xfrm>
            <a:off x="10538817" y="8361363"/>
            <a:ext cx="7399516" cy="3599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217"/>
              </a:lnSpc>
              <a:buNone/>
            </a:pPr>
            <a:r>
              <a:rPr lang="en-US" sz="1950" b="1" dirty="0">
                <a:solidFill>
                  <a:srgbClr val="B8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 function makes rural danger VISIBLE</a:t>
            </a:r>
            <a:endParaRPr lang="en-US" sz="1950" dirty="0"/>
          </a:p>
        </p:txBody>
      </p:sp>
      <p:sp>
        <p:nvSpPr>
          <p:cNvPr id="33" name="Text 30"/>
          <p:cNvSpPr/>
          <p:nvPr/>
        </p:nvSpPr>
        <p:spPr>
          <a:xfrm>
            <a:off x="10214967" y="9134079"/>
            <a:ext cx="7569607" cy="677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Rwanda equivalent: Kigali vs provincial roads — separate ranking ensures both receive attention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900" y="495300"/>
            <a:ext cx="2632908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RRSIS — GROUP 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682046" y="495300"/>
            <a:ext cx="958255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23900" y="1022350"/>
            <a:ext cx="18524220" cy="645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653"/>
              </a:lnSpc>
              <a:buNone/>
            </a:pPr>
            <a:r>
              <a:rPr lang="en-US" sz="4350" b="1" kern="0" spc="-65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7 — Road Safety Risk Score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723900" y="1820466"/>
            <a:ext cx="914400" cy="38100"/>
          </a:xfrm>
          <a:prstGeom prst="roundRect">
            <a:avLst>
              <a:gd name="adj" fmla="val 50000"/>
            </a:avLst>
          </a:prstGeom>
          <a:solidFill>
            <a:srgbClr val="B87400"/>
          </a:solidFill>
          <a:ln/>
        </p:spPr>
      </p:sp>
      <p:sp>
        <p:nvSpPr>
          <p:cNvPr id="6" name="Shape 4"/>
          <p:cNvSpPr/>
          <p:nvPr/>
        </p:nvSpPr>
        <p:spPr>
          <a:xfrm>
            <a:off x="723900" y="2125266"/>
            <a:ext cx="16840200" cy="1430338"/>
          </a:xfrm>
          <a:prstGeom prst="roundRect">
            <a:avLst>
              <a:gd name="adj" fmla="val 9323"/>
            </a:avLst>
          </a:prstGeom>
          <a:solidFill>
            <a:srgbClr val="F4F7FC"/>
          </a:solidFill>
          <a:ln w="12700">
            <a:solidFill>
              <a:srgbClr val="17203A">
                <a:alpha val="13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2095" y="2385616"/>
            <a:ext cx="17783810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7955"/>
              </a:lnSpc>
              <a:buNone/>
            </a:pPr>
            <a:r>
              <a:rPr lang="en-US" sz="2850" b="1" dirty="0">
                <a:solidFill>
                  <a:srgbClr val="B8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Score = (0.3 × Norm_Frequency) + (0.4 × Norm_Severity) + (0.3 × Norm_Fatal)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252095" y="2952353"/>
            <a:ext cx="177838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Min-Max Normalisation: v′ = (v − min) / (max − min) | Source: Delen et al. (2006) Eq. 1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723900" y="3784203"/>
            <a:ext cx="5448300" cy="1257300"/>
          </a:xfrm>
          <a:prstGeom prst="roundRect">
            <a:avLst>
              <a:gd name="adj" fmla="val 10606"/>
            </a:avLst>
          </a:prstGeom>
          <a:solidFill>
            <a:srgbClr val="F4F7FC"/>
          </a:solidFill>
          <a:ln w="12700">
            <a:solidFill>
              <a:srgbClr val="17203A">
                <a:alpha val="13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3300" y="4006453"/>
            <a:ext cx="537845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C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 0.3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003300" y="4476353"/>
            <a:ext cx="53784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Systemic risk — consistent volume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6419850" y="3784203"/>
            <a:ext cx="5448300" cy="1257300"/>
          </a:xfrm>
          <a:prstGeom prst="roundRect">
            <a:avLst>
              <a:gd name="adj" fmla="val 10606"/>
            </a:avLst>
          </a:prstGeom>
          <a:solidFill>
            <a:srgbClr val="F4F7FC"/>
          </a:solidFill>
          <a:ln w="12700">
            <a:solidFill>
              <a:srgbClr val="17203A">
                <a:alpha val="13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99250" y="4006453"/>
            <a:ext cx="537845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B8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0.4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6699250" y="4476353"/>
            <a:ext cx="53784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weight — measures actual harm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12115800" y="3784203"/>
            <a:ext cx="5448300" cy="1257300"/>
          </a:xfrm>
          <a:prstGeom prst="roundRect">
            <a:avLst>
              <a:gd name="adj" fmla="val 10606"/>
            </a:avLst>
          </a:prstGeom>
          <a:solidFill>
            <a:srgbClr val="F4F7FC"/>
          </a:solidFill>
          <a:ln w="12700">
            <a:solidFill>
              <a:srgbClr val="17203A">
                <a:alpha val="13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95200" y="4006453"/>
            <a:ext cx="537845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2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Fatal 0.3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2395200" y="4476353"/>
            <a:ext cx="53784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— rare events not overwhelmed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723900" y="5289153"/>
            <a:ext cx="8844360" cy="4032647"/>
          </a:xfrm>
          <a:prstGeom prst="roundRect">
            <a:avLst>
              <a:gd name="adj" fmla="val 3307"/>
            </a:avLst>
          </a:prstGeom>
          <a:solidFill>
            <a:srgbClr val="FFFFFF"/>
          </a:solidFill>
          <a:ln w="12700">
            <a:solidFill>
              <a:srgbClr val="17203A">
                <a:alpha val="12000"/>
              </a:srgbClr>
            </a:solidFill>
            <a:prstDash val="solid"/>
          </a:ln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rcRect t="-1132" b="-1132"/>
          <a:stretch/>
        </p:blipFill>
        <p:spPr>
          <a:xfrm>
            <a:off x="908050" y="5473303"/>
            <a:ext cx="8476059" cy="3664347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23900" y="9436100"/>
            <a:ext cx="9728796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9: Top 10 High Risk Locations by Composite Risk Score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9873060" y="5289153"/>
            <a:ext cx="7690842" cy="4464447"/>
          </a:xfrm>
          <a:prstGeom prst="roundRect">
            <a:avLst>
              <a:gd name="adj" fmla="val 2987"/>
            </a:avLst>
          </a:prstGeom>
          <a:solidFill>
            <a:srgbClr val="F4F7FC"/>
          </a:solidFill>
          <a:ln w="12700">
            <a:solidFill>
              <a:srgbClr val="17203A">
                <a:alpha val="13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266759" y="6585546"/>
            <a:ext cx="7593787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C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Score Reveals Hidden Danger</a:t>
            </a:r>
            <a:endParaRPr lang="en-US" sz="2550" dirty="0"/>
          </a:p>
        </p:txBody>
      </p:sp>
      <p:sp>
        <p:nvSpPr>
          <p:cNvPr id="23" name="Text 20"/>
          <p:cNvSpPr/>
          <p:nvPr/>
        </p:nvSpPr>
        <p:spPr>
          <a:xfrm>
            <a:off x="10266759" y="7201495"/>
            <a:ext cx="7110546" cy="1293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481"/>
              </a:lnSpc>
              <a:buNone/>
            </a:pPr>
            <a:r>
              <a:rPr lang="en-US" sz="2175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Westminster ranks 5th by accident count but jumps to 2nd by Risk Score — </a:t>
            </a:r>
            <a:r>
              <a:rPr lang="en-US" sz="2175" b="1" dirty="0">
                <a:solidFill>
                  <a:srgbClr val="D32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189 fatalities, highest of any location. </a:t>
            </a:r>
            <a:r>
              <a:rPr lang="en-US" sz="2175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fatal component (0.3) reveals what a raw count hides.</a:t>
            </a:r>
            <a:endParaRPr lang="en-US" sz="21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900" y="495300"/>
            <a:ext cx="2632908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RRSIS — GROUP 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682046" y="495300"/>
            <a:ext cx="958255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23900" y="1022350"/>
            <a:ext cx="18524220" cy="645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653"/>
              </a:lnSpc>
              <a:buNone/>
            </a:pPr>
            <a:r>
              <a:rPr lang="en-US" sz="4350" b="1" kern="0" spc="-65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8 — Spark Execution and Performance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723900" y="1820466"/>
            <a:ext cx="914400" cy="38100"/>
          </a:xfrm>
          <a:prstGeom prst="roundRect">
            <a:avLst>
              <a:gd name="adj" fmla="val 50000"/>
            </a:avLst>
          </a:prstGeom>
          <a:solidFill>
            <a:srgbClr val="B87400"/>
          </a:solidFill>
          <a:ln/>
        </p:spPr>
      </p:sp>
      <p:sp>
        <p:nvSpPr>
          <p:cNvPr id="6" name="Shape 4"/>
          <p:cNvSpPr/>
          <p:nvPr/>
        </p:nvSpPr>
        <p:spPr>
          <a:xfrm>
            <a:off x="723900" y="2182416"/>
            <a:ext cx="8267700" cy="6510735"/>
          </a:xfrm>
          <a:prstGeom prst="roundRect">
            <a:avLst>
              <a:gd name="adj" fmla="val 2048"/>
            </a:avLst>
          </a:prstGeom>
          <a:solidFill>
            <a:srgbClr val="F4F7FC"/>
          </a:solidFill>
          <a:ln w="12700">
            <a:solidFill>
              <a:srgbClr val="17203A">
                <a:alpha val="13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1400" y="2461816"/>
            <a:ext cx="839597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C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Execution Plans — </a:t>
            </a:r>
            <a:r>
              <a:rPr lang="en-US" sz="2100" b="1" dirty="0">
                <a:solidFill>
                  <a:srgbClr val="2C6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df.explain(True)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41400" y="3007916"/>
            <a:ext cx="7632700" cy="1251347"/>
          </a:xfrm>
          <a:prstGeom prst="roundRect">
            <a:avLst>
              <a:gd name="adj" fmla="val 7612"/>
            </a:avLst>
          </a:prstGeom>
          <a:solidFill>
            <a:srgbClr val="2F5DA8"/>
          </a:solidFill>
          <a:ln/>
        </p:spPr>
      </p:sp>
      <p:sp>
        <p:nvSpPr>
          <p:cNvPr id="9" name="Text 7"/>
          <p:cNvSpPr/>
          <p:nvPr/>
        </p:nvSpPr>
        <p:spPr>
          <a:xfrm>
            <a:off x="1270000" y="3290689"/>
            <a:ext cx="78930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Parsed Plan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270000" y="3633589"/>
            <a:ext cx="78930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E4ED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analyst wrote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041400" y="4392613"/>
            <a:ext cx="7632700" cy="1251545"/>
          </a:xfrm>
          <a:prstGeom prst="roundRect">
            <a:avLst>
              <a:gd name="adj" fmla="val 7611"/>
            </a:avLst>
          </a:prstGeom>
          <a:solidFill>
            <a:srgbClr val="2F5DA8"/>
          </a:solidFill>
          <a:ln/>
        </p:spPr>
      </p:sp>
      <p:sp>
        <p:nvSpPr>
          <p:cNvPr id="12" name="Text 10"/>
          <p:cNvSpPr/>
          <p:nvPr/>
        </p:nvSpPr>
        <p:spPr>
          <a:xfrm>
            <a:off x="1270000" y="4675386"/>
            <a:ext cx="78930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Analyzed Plan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270000" y="5018286"/>
            <a:ext cx="78930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E4ED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 and types validated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1041400" y="5777508"/>
            <a:ext cx="7632700" cy="1251347"/>
          </a:xfrm>
          <a:prstGeom prst="roundRect">
            <a:avLst>
              <a:gd name="adj" fmla="val 7612"/>
            </a:avLst>
          </a:prstGeom>
          <a:solidFill>
            <a:srgbClr val="2C6CA8"/>
          </a:solidFill>
          <a:ln/>
        </p:spPr>
      </p:sp>
      <p:sp>
        <p:nvSpPr>
          <p:cNvPr id="15" name="Text 13"/>
          <p:cNvSpPr/>
          <p:nvPr/>
        </p:nvSpPr>
        <p:spPr>
          <a:xfrm>
            <a:off x="1270000" y="6060281"/>
            <a:ext cx="78930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 Plan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70000" y="6403181"/>
            <a:ext cx="78930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E4ED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Catalyst optimizer improves the query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1041400" y="7162205"/>
            <a:ext cx="7632700" cy="1251545"/>
          </a:xfrm>
          <a:prstGeom prst="roundRect">
            <a:avLst>
              <a:gd name="adj" fmla="val 7611"/>
            </a:avLst>
          </a:prstGeom>
          <a:solidFill>
            <a:srgbClr val="D32F4F"/>
          </a:solidFill>
          <a:ln/>
        </p:spPr>
      </p:sp>
      <p:sp>
        <p:nvSpPr>
          <p:cNvPr id="18" name="Text 16"/>
          <p:cNvSpPr/>
          <p:nvPr/>
        </p:nvSpPr>
        <p:spPr>
          <a:xfrm>
            <a:off x="1270000" y="7444978"/>
            <a:ext cx="78930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Plan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270000" y="7787878"/>
            <a:ext cx="78930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E4ED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execution steps on the cluster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723900" y="8902700"/>
            <a:ext cx="8267700" cy="850900"/>
          </a:xfrm>
          <a:prstGeom prst="roundRect">
            <a:avLst>
              <a:gd name="adj" fmla="val 15672"/>
            </a:avLst>
          </a:prstGeom>
          <a:solidFill>
            <a:srgbClr val="F4F7FC"/>
          </a:solidFill>
          <a:ln/>
        </p:spPr>
      </p:sp>
      <p:sp>
        <p:nvSpPr>
          <p:cNvPr id="21" name="Shape 19"/>
          <p:cNvSpPr/>
          <p:nvPr/>
        </p:nvSpPr>
        <p:spPr>
          <a:xfrm>
            <a:off x="723900" y="9740900"/>
            <a:ext cx="8267700" cy="12700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23900" y="8902700"/>
            <a:ext cx="8267700" cy="12700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23900" y="8902700"/>
            <a:ext cx="38100" cy="850900"/>
          </a:xfrm>
          <a:prstGeom prst="rect">
            <a:avLst/>
          </a:prstGeom>
          <a:solidFill>
            <a:srgbClr val="B87400"/>
          </a:solidFill>
          <a:ln/>
        </p:spPr>
      </p:sp>
      <p:sp>
        <p:nvSpPr>
          <p:cNvPr id="24" name="Shape 22"/>
          <p:cNvSpPr/>
          <p:nvPr/>
        </p:nvSpPr>
        <p:spPr>
          <a:xfrm>
            <a:off x="8978900" y="8902700"/>
            <a:ext cx="12700" cy="850900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66800" y="9163050"/>
            <a:ext cx="7855331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B8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Shuffle Operations Identified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9296400" y="2182416"/>
            <a:ext cx="909447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C6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cache() </a:t>
            </a:r>
            <a:r>
              <a:rPr lang="en-US" sz="2400" b="1" dirty="0">
                <a:solidFill>
                  <a:srgbClr val="2C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Why It Matters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9296400" y="2741216"/>
            <a:ext cx="8267700" cy="2413000"/>
          </a:xfrm>
          <a:prstGeom prst="roundRect">
            <a:avLst>
              <a:gd name="adj" fmla="val 5526"/>
            </a:avLst>
          </a:prstGeom>
          <a:solidFill>
            <a:srgbClr val="F4F7FC"/>
          </a:solidFill>
          <a:ln/>
        </p:spPr>
      </p:sp>
      <p:sp>
        <p:nvSpPr>
          <p:cNvPr id="28" name="Shape 26"/>
          <p:cNvSpPr/>
          <p:nvPr/>
        </p:nvSpPr>
        <p:spPr>
          <a:xfrm>
            <a:off x="9296400" y="5141516"/>
            <a:ext cx="8267700" cy="12700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9296400" y="2741216"/>
            <a:ext cx="8267700" cy="12700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9296400" y="2741216"/>
            <a:ext cx="50800" cy="2413000"/>
          </a:xfrm>
          <a:prstGeom prst="rect">
            <a:avLst/>
          </a:prstGeom>
          <a:solidFill>
            <a:srgbClr val="D32F4F"/>
          </a:solidFill>
          <a:ln/>
        </p:spPr>
      </p:sp>
      <p:sp>
        <p:nvSpPr>
          <p:cNvPr id="31" name="Shape 29"/>
          <p:cNvSpPr/>
          <p:nvPr/>
        </p:nvSpPr>
        <p:spPr>
          <a:xfrm>
            <a:off x="17551400" y="2741216"/>
            <a:ext cx="12700" cy="2413000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9632950" y="2982516"/>
            <a:ext cx="839597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D32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cache():</a:t>
            </a:r>
            <a:endParaRPr lang="en-US" sz="2025" dirty="0"/>
          </a:p>
        </p:txBody>
      </p:sp>
      <p:sp>
        <p:nvSpPr>
          <p:cNvPr id="33" name="Text 31"/>
          <p:cNvSpPr/>
          <p:nvPr/>
        </p:nvSpPr>
        <p:spPr>
          <a:xfrm>
            <a:off x="9632950" y="3369866"/>
            <a:ext cx="839597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 → re-read HDFS + re-clean → analyse</a:t>
            </a:r>
            <a:endParaRPr lang="en-US" sz="1875" dirty="0"/>
          </a:p>
        </p:txBody>
      </p:sp>
      <p:sp>
        <p:nvSpPr>
          <p:cNvPr id="34" name="Text 32"/>
          <p:cNvSpPr/>
          <p:nvPr/>
        </p:nvSpPr>
        <p:spPr>
          <a:xfrm>
            <a:off x="9632950" y="3769916"/>
            <a:ext cx="839597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→ re-read HDFS + re-clean → analyse</a:t>
            </a:r>
            <a:endParaRPr lang="en-US" sz="1875" dirty="0"/>
          </a:p>
        </p:txBody>
      </p:sp>
      <p:sp>
        <p:nvSpPr>
          <p:cNvPr id="35" name="Text 33"/>
          <p:cNvSpPr/>
          <p:nvPr/>
        </p:nvSpPr>
        <p:spPr>
          <a:xfrm>
            <a:off x="9632950" y="4169966"/>
            <a:ext cx="839597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5 → re-read HDFS + re-clean → analyse</a:t>
            </a:r>
            <a:endParaRPr lang="en-US" sz="1875" dirty="0"/>
          </a:p>
        </p:txBody>
      </p:sp>
      <p:sp>
        <p:nvSpPr>
          <p:cNvPr id="36" name="Text 34"/>
          <p:cNvSpPr/>
          <p:nvPr/>
        </p:nvSpPr>
        <p:spPr>
          <a:xfrm>
            <a:off x="9632950" y="4570016"/>
            <a:ext cx="839597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repeated 7 times — very slow</a:t>
            </a:r>
            <a:endParaRPr lang="en-US" sz="1875" dirty="0"/>
          </a:p>
        </p:txBody>
      </p:sp>
      <p:sp>
        <p:nvSpPr>
          <p:cNvPr id="37" name="Shape 35"/>
          <p:cNvSpPr/>
          <p:nvPr/>
        </p:nvSpPr>
        <p:spPr>
          <a:xfrm>
            <a:off x="9296400" y="5344716"/>
            <a:ext cx="8267700" cy="2451100"/>
          </a:xfrm>
          <a:prstGeom prst="roundRect">
            <a:avLst>
              <a:gd name="adj" fmla="val 5440"/>
            </a:avLst>
          </a:prstGeom>
          <a:solidFill>
            <a:srgbClr val="F4F7FC"/>
          </a:solidFill>
          <a:ln/>
        </p:spPr>
      </p:sp>
      <p:sp>
        <p:nvSpPr>
          <p:cNvPr id="38" name="Shape 36"/>
          <p:cNvSpPr/>
          <p:nvPr/>
        </p:nvSpPr>
        <p:spPr>
          <a:xfrm>
            <a:off x="9296400" y="7783116"/>
            <a:ext cx="8267700" cy="12700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9296400" y="5344716"/>
            <a:ext cx="8267700" cy="12700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9296400" y="5344716"/>
            <a:ext cx="50800" cy="2451100"/>
          </a:xfrm>
          <a:prstGeom prst="rect">
            <a:avLst/>
          </a:prstGeom>
          <a:solidFill>
            <a:srgbClr val="B87400"/>
          </a:solidFill>
          <a:ln/>
        </p:spPr>
      </p:sp>
      <p:sp>
        <p:nvSpPr>
          <p:cNvPr id="41" name="Shape 39"/>
          <p:cNvSpPr/>
          <p:nvPr/>
        </p:nvSpPr>
        <p:spPr>
          <a:xfrm>
            <a:off x="17551400" y="5344716"/>
            <a:ext cx="12700" cy="2451100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9632950" y="5586016"/>
            <a:ext cx="839597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B8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cache():</a:t>
            </a:r>
            <a:endParaRPr lang="en-US" sz="2025" dirty="0"/>
          </a:p>
        </p:txBody>
      </p:sp>
      <p:sp>
        <p:nvSpPr>
          <p:cNvPr id="43" name="Text 41"/>
          <p:cNvSpPr/>
          <p:nvPr/>
        </p:nvSpPr>
        <p:spPr>
          <a:xfrm>
            <a:off x="9632950" y="5973366"/>
            <a:ext cx="839597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use → read HDFS + clean → store in memory</a:t>
            </a:r>
            <a:endParaRPr lang="en-US" sz="1875" dirty="0"/>
          </a:p>
        </p:txBody>
      </p:sp>
      <p:sp>
        <p:nvSpPr>
          <p:cNvPr id="44" name="Text 42"/>
          <p:cNvSpPr/>
          <p:nvPr/>
        </p:nvSpPr>
        <p:spPr>
          <a:xfrm>
            <a:off x="9632950" y="6373416"/>
            <a:ext cx="839597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 → read from memory ✓ fast</a:t>
            </a:r>
            <a:endParaRPr lang="en-US" sz="1875" dirty="0"/>
          </a:p>
        </p:txBody>
      </p:sp>
      <p:sp>
        <p:nvSpPr>
          <p:cNvPr id="45" name="Text 43"/>
          <p:cNvSpPr/>
          <p:nvPr/>
        </p:nvSpPr>
        <p:spPr>
          <a:xfrm>
            <a:off x="9632950" y="6786166"/>
            <a:ext cx="839597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→ read from memory ✓ fast</a:t>
            </a:r>
            <a:endParaRPr lang="en-US" sz="1875" dirty="0"/>
          </a:p>
        </p:txBody>
      </p:sp>
      <p:sp>
        <p:nvSpPr>
          <p:cNvPr id="46" name="Text 44"/>
          <p:cNvSpPr/>
          <p:nvPr/>
        </p:nvSpPr>
        <p:spPr>
          <a:xfrm>
            <a:off x="9632950" y="7198916"/>
            <a:ext cx="839597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5 → read from memory ✓ fast</a:t>
            </a:r>
            <a:endParaRPr lang="en-US" sz="1875" dirty="0"/>
          </a:p>
        </p:txBody>
      </p:sp>
      <p:sp>
        <p:nvSpPr>
          <p:cNvPr id="47" name="Shape 45"/>
          <p:cNvSpPr/>
          <p:nvPr/>
        </p:nvSpPr>
        <p:spPr>
          <a:xfrm>
            <a:off x="9296400" y="7986316"/>
            <a:ext cx="8267700" cy="1949450"/>
          </a:xfrm>
          <a:prstGeom prst="roundRect">
            <a:avLst>
              <a:gd name="adj" fmla="val 6840"/>
            </a:avLst>
          </a:prstGeom>
          <a:solidFill>
            <a:srgbClr val="F4F7FC"/>
          </a:solidFill>
          <a:ln w="12700">
            <a:solidFill>
              <a:srgbClr val="17203A">
                <a:alpha val="13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594850" y="8227616"/>
            <a:ext cx="843788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B8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307,955 records cached successfully</a:t>
            </a:r>
            <a:endParaRPr lang="en-US" sz="2550" dirty="0"/>
          </a:p>
        </p:txBody>
      </p:sp>
      <p:sp>
        <p:nvSpPr>
          <p:cNvPr id="49" name="Text 47"/>
          <p:cNvSpPr/>
          <p:nvPr/>
        </p:nvSpPr>
        <p:spPr>
          <a:xfrm>
            <a:off x="9594850" y="8672116"/>
            <a:ext cx="7900924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D6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df_cleaned.cache() + df_cleaned.count() triggers storage</a:t>
            </a:r>
            <a:endParaRPr lang="en-US" sz="1875" dirty="0"/>
          </a:p>
        </p:txBody>
      </p:sp>
      <p:sp>
        <p:nvSpPr>
          <p:cNvPr id="50" name="Text 48"/>
          <p:cNvSpPr/>
          <p:nvPr/>
        </p:nvSpPr>
        <p:spPr>
          <a:xfrm>
            <a:off x="9594850" y="9338866"/>
            <a:ext cx="843788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Tasks 3–9 read from memory</a:t>
            </a:r>
            <a:endParaRPr lang="en-US" sz="1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900" y="495300"/>
            <a:ext cx="2632908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RRSIS — GROUP 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682046" y="495300"/>
            <a:ext cx="958255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23900" y="1022350"/>
            <a:ext cx="18524220" cy="645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653"/>
              </a:lnSpc>
              <a:buNone/>
            </a:pPr>
            <a:r>
              <a:rPr lang="en-US" sz="4350" b="1" kern="0" spc="-65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9 — Five Management Priorities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723900" y="1820466"/>
            <a:ext cx="914400" cy="38100"/>
          </a:xfrm>
          <a:prstGeom prst="roundRect">
            <a:avLst>
              <a:gd name="adj" fmla="val 50000"/>
            </a:avLst>
          </a:prstGeom>
          <a:solidFill>
            <a:srgbClr val="B87400"/>
          </a:solidFill>
          <a:ln/>
        </p:spPr>
      </p:sp>
      <p:sp>
        <p:nvSpPr>
          <p:cNvPr id="6" name="Shape 4"/>
          <p:cNvSpPr/>
          <p:nvPr/>
        </p:nvSpPr>
        <p:spPr>
          <a:xfrm>
            <a:off x="723900" y="2163366"/>
            <a:ext cx="8286750" cy="3096617"/>
          </a:xfrm>
          <a:prstGeom prst="roundRect">
            <a:avLst>
              <a:gd name="adj" fmla="val 4306"/>
            </a:avLst>
          </a:prstGeom>
          <a:solidFill>
            <a:srgbClr val="F4F7FC"/>
          </a:solidFill>
          <a:ln/>
        </p:spPr>
      </p:sp>
      <p:sp>
        <p:nvSpPr>
          <p:cNvPr id="7" name="Shape 5"/>
          <p:cNvSpPr/>
          <p:nvPr/>
        </p:nvSpPr>
        <p:spPr>
          <a:xfrm>
            <a:off x="723900" y="5247283"/>
            <a:ext cx="8286750" cy="12700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23900" y="2163366"/>
            <a:ext cx="8286750" cy="38100"/>
          </a:xfrm>
          <a:prstGeom prst="rect">
            <a:avLst/>
          </a:prstGeom>
          <a:solidFill>
            <a:srgbClr val="D32F4F"/>
          </a:solidFill>
          <a:ln/>
        </p:spPr>
      </p:sp>
      <p:sp>
        <p:nvSpPr>
          <p:cNvPr id="9" name="Shape 7"/>
          <p:cNvSpPr/>
          <p:nvPr/>
        </p:nvSpPr>
        <p:spPr>
          <a:xfrm>
            <a:off x="723900" y="2163366"/>
            <a:ext cx="12700" cy="3096617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997950" y="2163366"/>
            <a:ext cx="12700" cy="3096617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60450" y="2524125"/>
            <a:ext cx="8375015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34" dirty="0">
                <a:solidFill>
                  <a:srgbClr val="D32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1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060450" y="2911475"/>
            <a:ext cx="8375015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Evening Rush Hour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1060450" y="3495675"/>
            <a:ext cx="8375015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B8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72,929 accidents (23.7%)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060450" y="3921125"/>
            <a:ext cx="8375015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16:00–18:00 window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060450" y="4410075"/>
            <a:ext cx="7613650" cy="12700"/>
          </a:xfrm>
          <a:prstGeom prst="rect">
            <a:avLst/>
          </a:prstGeom>
          <a:solidFill>
            <a:srgbClr val="17203A">
              <a:alpha val="1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60450" y="4556125"/>
            <a:ext cx="784206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traffic management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9277350" y="2163366"/>
            <a:ext cx="8286750" cy="3096617"/>
          </a:xfrm>
          <a:prstGeom prst="roundRect">
            <a:avLst>
              <a:gd name="adj" fmla="val 4306"/>
            </a:avLst>
          </a:prstGeom>
          <a:solidFill>
            <a:srgbClr val="F4F7FC"/>
          </a:solidFill>
          <a:ln/>
        </p:spPr>
      </p:sp>
      <p:sp>
        <p:nvSpPr>
          <p:cNvPr id="18" name="Shape 16"/>
          <p:cNvSpPr/>
          <p:nvPr/>
        </p:nvSpPr>
        <p:spPr>
          <a:xfrm>
            <a:off x="9277350" y="5247283"/>
            <a:ext cx="8286750" cy="12700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277350" y="2163366"/>
            <a:ext cx="8286750" cy="38100"/>
          </a:xfrm>
          <a:prstGeom prst="rect">
            <a:avLst/>
          </a:prstGeom>
          <a:solidFill>
            <a:srgbClr val="D32F4F"/>
          </a:solidFill>
          <a:ln/>
        </p:spPr>
      </p:sp>
      <p:sp>
        <p:nvSpPr>
          <p:cNvPr id="20" name="Shape 18"/>
          <p:cNvSpPr/>
          <p:nvPr/>
        </p:nvSpPr>
        <p:spPr>
          <a:xfrm>
            <a:off x="9277350" y="2163366"/>
            <a:ext cx="12700" cy="3096617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7551400" y="2163366"/>
            <a:ext cx="12700" cy="3096617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613900" y="2524125"/>
            <a:ext cx="8375015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34" dirty="0">
                <a:solidFill>
                  <a:srgbClr val="D32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2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613900" y="2911475"/>
            <a:ext cx="8375015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Carriageway</a:t>
            </a:r>
            <a:endParaRPr lang="en-US" sz="3150" dirty="0"/>
          </a:p>
        </p:txBody>
      </p:sp>
      <p:sp>
        <p:nvSpPr>
          <p:cNvPr id="24" name="Text 22"/>
          <p:cNvSpPr/>
          <p:nvPr/>
        </p:nvSpPr>
        <p:spPr>
          <a:xfrm>
            <a:off x="9613900" y="3495675"/>
            <a:ext cx="8375015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B8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230,595 accidents (74.9%)</a:t>
            </a:r>
            <a:endParaRPr lang="en-US" sz="2550" dirty="0"/>
          </a:p>
        </p:txBody>
      </p:sp>
      <p:sp>
        <p:nvSpPr>
          <p:cNvPr id="25" name="Text 23"/>
          <p:cNvSpPr/>
          <p:nvPr/>
        </p:nvSpPr>
        <p:spPr>
          <a:xfrm>
            <a:off x="9613900" y="3921125"/>
            <a:ext cx="8375015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307,409 — 5× dual carriageway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9613900" y="4410075"/>
            <a:ext cx="7613650" cy="12700"/>
          </a:xfrm>
          <a:prstGeom prst="rect">
            <a:avLst/>
          </a:prstGeom>
          <a:solidFill>
            <a:srgbClr val="17203A">
              <a:alpha val="12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613900" y="4556125"/>
            <a:ext cx="784206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markings and lighting</a:t>
            </a:r>
            <a:endParaRPr lang="en-US" sz="2025" dirty="0"/>
          </a:p>
        </p:txBody>
      </p:sp>
      <p:sp>
        <p:nvSpPr>
          <p:cNvPr id="28" name="Shape 26"/>
          <p:cNvSpPr/>
          <p:nvPr/>
        </p:nvSpPr>
        <p:spPr>
          <a:xfrm>
            <a:off x="723900" y="5526683"/>
            <a:ext cx="5435600" cy="3096617"/>
          </a:xfrm>
          <a:prstGeom prst="roundRect">
            <a:avLst>
              <a:gd name="adj" fmla="val 4306"/>
            </a:avLst>
          </a:prstGeom>
          <a:solidFill>
            <a:srgbClr val="F4F7FC"/>
          </a:solidFill>
          <a:ln/>
        </p:spPr>
      </p:sp>
      <p:sp>
        <p:nvSpPr>
          <p:cNvPr id="29" name="Shape 27"/>
          <p:cNvSpPr/>
          <p:nvPr/>
        </p:nvSpPr>
        <p:spPr>
          <a:xfrm>
            <a:off x="723900" y="8610600"/>
            <a:ext cx="5435600" cy="12700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23900" y="5526683"/>
            <a:ext cx="5435600" cy="38100"/>
          </a:xfrm>
          <a:prstGeom prst="rect">
            <a:avLst/>
          </a:prstGeom>
          <a:solidFill>
            <a:srgbClr val="2C6CA8"/>
          </a:solidFill>
          <a:ln/>
        </p:spPr>
      </p:sp>
      <p:sp>
        <p:nvSpPr>
          <p:cNvPr id="31" name="Shape 29"/>
          <p:cNvSpPr/>
          <p:nvPr/>
        </p:nvSpPr>
        <p:spPr>
          <a:xfrm>
            <a:off x="723900" y="5526683"/>
            <a:ext cx="12700" cy="3096617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146800" y="5526683"/>
            <a:ext cx="12700" cy="3096617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022350" y="6023967"/>
            <a:ext cx="532257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25" dirty="0">
                <a:solidFill>
                  <a:srgbClr val="D32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3</a:t>
            </a:r>
            <a:endParaRPr lang="en-US" sz="1875" dirty="0"/>
          </a:p>
        </p:txBody>
      </p:sp>
      <p:sp>
        <p:nvSpPr>
          <p:cNvPr id="34" name="Text 32"/>
          <p:cNvSpPr/>
          <p:nvPr/>
        </p:nvSpPr>
        <p:spPr>
          <a:xfrm>
            <a:off x="1022350" y="6379568"/>
            <a:ext cx="532257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Risk Locations</a:t>
            </a:r>
            <a:endParaRPr lang="en-US" sz="2550" dirty="0"/>
          </a:p>
        </p:txBody>
      </p:sp>
      <p:sp>
        <p:nvSpPr>
          <p:cNvPr id="35" name="Text 33"/>
          <p:cNvSpPr/>
          <p:nvPr/>
        </p:nvSpPr>
        <p:spPr>
          <a:xfrm>
            <a:off x="1022350" y="6843117"/>
            <a:ext cx="532257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B8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Birmingham 0.7905</a:t>
            </a:r>
            <a:endParaRPr lang="en-US" sz="2250" dirty="0"/>
          </a:p>
        </p:txBody>
      </p:sp>
      <p:sp>
        <p:nvSpPr>
          <p:cNvPr id="36" name="Text 34"/>
          <p:cNvSpPr/>
          <p:nvPr/>
        </p:nvSpPr>
        <p:spPr>
          <a:xfrm>
            <a:off x="1022350" y="7211417"/>
            <a:ext cx="532257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Westminster 0.6585</a:t>
            </a:r>
            <a:endParaRPr lang="en-US" sz="1875" dirty="0"/>
          </a:p>
        </p:txBody>
      </p:sp>
      <p:sp>
        <p:nvSpPr>
          <p:cNvPr id="37" name="Shape 35"/>
          <p:cNvSpPr/>
          <p:nvPr/>
        </p:nvSpPr>
        <p:spPr>
          <a:xfrm>
            <a:off x="1022350" y="7668617"/>
            <a:ext cx="4838700" cy="12700"/>
          </a:xfrm>
          <a:prstGeom prst="rect">
            <a:avLst/>
          </a:prstGeom>
          <a:solidFill>
            <a:srgbClr val="17203A">
              <a:alpha val="12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1022350" y="7795617"/>
            <a:ext cx="4983861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Concentrate resources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6426200" y="5526683"/>
            <a:ext cx="5435600" cy="3096617"/>
          </a:xfrm>
          <a:prstGeom prst="roundRect">
            <a:avLst>
              <a:gd name="adj" fmla="val 4306"/>
            </a:avLst>
          </a:prstGeom>
          <a:solidFill>
            <a:srgbClr val="F4F7FC"/>
          </a:solidFill>
          <a:ln/>
        </p:spPr>
      </p:sp>
      <p:sp>
        <p:nvSpPr>
          <p:cNvPr id="40" name="Shape 38"/>
          <p:cNvSpPr/>
          <p:nvPr/>
        </p:nvSpPr>
        <p:spPr>
          <a:xfrm>
            <a:off x="6426200" y="8610600"/>
            <a:ext cx="5435600" cy="12700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426200" y="5526683"/>
            <a:ext cx="5435600" cy="38100"/>
          </a:xfrm>
          <a:prstGeom prst="rect">
            <a:avLst/>
          </a:prstGeom>
          <a:solidFill>
            <a:srgbClr val="2C6CA8"/>
          </a:solidFill>
          <a:ln/>
        </p:spPr>
      </p:sp>
      <p:sp>
        <p:nvSpPr>
          <p:cNvPr id="42" name="Shape 40"/>
          <p:cNvSpPr/>
          <p:nvPr/>
        </p:nvSpPr>
        <p:spPr>
          <a:xfrm>
            <a:off x="6426200" y="5526683"/>
            <a:ext cx="12700" cy="3096617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1849100" y="5526683"/>
            <a:ext cx="12700" cy="3096617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724650" y="6023967"/>
            <a:ext cx="532257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25" dirty="0">
                <a:solidFill>
                  <a:srgbClr val="D32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4</a:t>
            </a:r>
            <a:endParaRPr lang="en-US" sz="1875" dirty="0"/>
          </a:p>
        </p:txBody>
      </p:sp>
      <p:sp>
        <p:nvSpPr>
          <p:cNvPr id="45" name="Text 43"/>
          <p:cNvSpPr/>
          <p:nvPr/>
        </p:nvSpPr>
        <p:spPr>
          <a:xfrm>
            <a:off x="6724650" y="6379568"/>
            <a:ext cx="532257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Friday and Weekend</a:t>
            </a:r>
            <a:endParaRPr lang="en-US" sz="2550" dirty="0"/>
          </a:p>
        </p:txBody>
      </p:sp>
      <p:sp>
        <p:nvSpPr>
          <p:cNvPr id="46" name="Text 44"/>
          <p:cNvSpPr/>
          <p:nvPr/>
        </p:nvSpPr>
        <p:spPr>
          <a:xfrm>
            <a:off x="6724650" y="6843117"/>
            <a:ext cx="532257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B8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Fatal rate 1.78% weekend</a:t>
            </a:r>
            <a:endParaRPr lang="en-US" sz="2250" dirty="0"/>
          </a:p>
        </p:txBody>
      </p:sp>
      <p:sp>
        <p:nvSpPr>
          <p:cNvPr id="47" name="Text 45"/>
          <p:cNvSpPr/>
          <p:nvPr/>
        </p:nvSpPr>
        <p:spPr>
          <a:xfrm>
            <a:off x="6724650" y="7211417"/>
            <a:ext cx="532257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1.12% weekday</a:t>
            </a:r>
            <a:endParaRPr lang="en-US" sz="1875" dirty="0"/>
          </a:p>
        </p:txBody>
      </p:sp>
      <p:sp>
        <p:nvSpPr>
          <p:cNvPr id="48" name="Shape 46"/>
          <p:cNvSpPr/>
          <p:nvPr/>
        </p:nvSpPr>
        <p:spPr>
          <a:xfrm>
            <a:off x="6724650" y="7668617"/>
            <a:ext cx="4838700" cy="12700"/>
          </a:xfrm>
          <a:prstGeom prst="rect">
            <a:avLst/>
          </a:prstGeom>
          <a:solidFill>
            <a:srgbClr val="17203A">
              <a:alpha val="12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6724650" y="7795617"/>
            <a:ext cx="4983861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awareness campaigns</a:t>
            </a:r>
            <a:endParaRPr lang="en-US" sz="1950" dirty="0"/>
          </a:p>
        </p:txBody>
      </p:sp>
      <p:sp>
        <p:nvSpPr>
          <p:cNvPr id="50" name="Shape 48"/>
          <p:cNvSpPr/>
          <p:nvPr/>
        </p:nvSpPr>
        <p:spPr>
          <a:xfrm>
            <a:off x="12128500" y="5526683"/>
            <a:ext cx="5435600" cy="3096617"/>
          </a:xfrm>
          <a:prstGeom prst="roundRect">
            <a:avLst>
              <a:gd name="adj" fmla="val 4306"/>
            </a:avLst>
          </a:prstGeom>
          <a:solidFill>
            <a:srgbClr val="F4F7FC"/>
          </a:solidFill>
          <a:ln/>
        </p:spPr>
      </p:sp>
      <p:sp>
        <p:nvSpPr>
          <p:cNvPr id="51" name="Shape 49"/>
          <p:cNvSpPr/>
          <p:nvPr/>
        </p:nvSpPr>
        <p:spPr>
          <a:xfrm>
            <a:off x="12128500" y="8610600"/>
            <a:ext cx="5435600" cy="12700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2128500" y="5526683"/>
            <a:ext cx="5435600" cy="38100"/>
          </a:xfrm>
          <a:prstGeom prst="rect">
            <a:avLst/>
          </a:prstGeom>
          <a:solidFill>
            <a:srgbClr val="2C6CA8"/>
          </a:solidFill>
          <a:ln/>
        </p:spPr>
      </p:sp>
      <p:sp>
        <p:nvSpPr>
          <p:cNvPr id="53" name="Shape 51"/>
          <p:cNvSpPr/>
          <p:nvPr/>
        </p:nvSpPr>
        <p:spPr>
          <a:xfrm>
            <a:off x="12128500" y="5526683"/>
            <a:ext cx="12700" cy="3096617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7551401" y="5526683"/>
            <a:ext cx="12700" cy="3096617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12426951" y="6023967"/>
            <a:ext cx="532257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25" dirty="0">
                <a:solidFill>
                  <a:srgbClr val="D32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5</a:t>
            </a:r>
            <a:endParaRPr lang="en-US" sz="1875" dirty="0"/>
          </a:p>
        </p:txBody>
      </p:sp>
      <p:sp>
        <p:nvSpPr>
          <p:cNvPr id="56" name="Text 54"/>
          <p:cNvSpPr/>
          <p:nvPr/>
        </p:nvSpPr>
        <p:spPr>
          <a:xfrm>
            <a:off x="12426951" y="6379568"/>
            <a:ext cx="532257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 Time</a:t>
            </a:r>
            <a:endParaRPr lang="en-US" sz="2550" dirty="0"/>
          </a:p>
        </p:txBody>
      </p:sp>
      <p:sp>
        <p:nvSpPr>
          <p:cNvPr id="57" name="Text 55"/>
          <p:cNvSpPr/>
          <p:nvPr/>
        </p:nvSpPr>
        <p:spPr>
          <a:xfrm>
            <a:off x="12426951" y="6843117"/>
            <a:ext cx="532257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B8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ratio 1.511</a:t>
            </a:r>
            <a:endParaRPr lang="en-US" sz="2250" dirty="0"/>
          </a:p>
        </p:txBody>
      </p:sp>
      <p:sp>
        <p:nvSpPr>
          <p:cNvPr id="58" name="Text 56"/>
          <p:cNvSpPr/>
          <p:nvPr/>
        </p:nvSpPr>
        <p:spPr>
          <a:xfrm>
            <a:off x="12426951" y="7211417"/>
            <a:ext cx="532257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Fatal rate 3.43%</a:t>
            </a:r>
            <a:endParaRPr lang="en-US" sz="1875" dirty="0"/>
          </a:p>
        </p:txBody>
      </p:sp>
      <p:sp>
        <p:nvSpPr>
          <p:cNvPr id="59" name="Shape 57"/>
          <p:cNvSpPr/>
          <p:nvPr/>
        </p:nvSpPr>
        <p:spPr>
          <a:xfrm>
            <a:off x="12426951" y="7668617"/>
            <a:ext cx="4838700" cy="12700"/>
          </a:xfrm>
          <a:prstGeom prst="rect">
            <a:avLst/>
          </a:prstGeom>
          <a:solidFill>
            <a:srgbClr val="17203A">
              <a:alpha val="12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12426951" y="7795617"/>
            <a:ext cx="4983861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 patrols and lighting</a:t>
            </a:r>
            <a:endParaRPr lang="en-US" sz="1950" dirty="0"/>
          </a:p>
        </p:txBody>
      </p:sp>
      <p:sp>
        <p:nvSpPr>
          <p:cNvPr id="61" name="Shape 59"/>
          <p:cNvSpPr/>
          <p:nvPr/>
        </p:nvSpPr>
        <p:spPr>
          <a:xfrm>
            <a:off x="723900" y="8890000"/>
            <a:ext cx="16840200" cy="863600"/>
          </a:xfrm>
          <a:prstGeom prst="roundRect">
            <a:avLst>
              <a:gd name="adj" fmla="val 13235"/>
            </a:avLst>
          </a:prstGeom>
          <a:solidFill>
            <a:srgbClr val="F4F7FC"/>
          </a:solidFill>
          <a:ln w="12700">
            <a:solidFill>
              <a:srgbClr val="17203A">
                <a:alpha val="13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88797" y="9131300"/>
            <a:ext cx="1671040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priorities backed by Spark analysis of 307,955 records — evidence-based, ranked, actionable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900" y="495300"/>
            <a:ext cx="2632908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RRSIS — GROUP 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682046" y="495300"/>
            <a:ext cx="958255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23900" y="1022350"/>
            <a:ext cx="1852422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3900" b="1" kern="0" spc="-58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 — Five Papers, Three Cross-Paper Findings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723900" y="1757561"/>
            <a:ext cx="914400" cy="38100"/>
          </a:xfrm>
          <a:prstGeom prst="roundRect">
            <a:avLst>
              <a:gd name="adj" fmla="val 50000"/>
            </a:avLst>
          </a:prstGeom>
          <a:solidFill>
            <a:srgbClr val="B87400"/>
          </a:solidFill>
          <a:ln/>
        </p:spPr>
      </p:sp>
      <p:sp>
        <p:nvSpPr>
          <p:cNvPr id="6" name="Text 4"/>
          <p:cNvSpPr/>
          <p:nvPr/>
        </p:nvSpPr>
        <p:spPr>
          <a:xfrm>
            <a:off x="723900" y="2100461"/>
            <a:ext cx="10900748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C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Papers Used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23900" y="2627511"/>
            <a:ext cx="9909771" cy="1303139"/>
          </a:xfrm>
          <a:prstGeom prst="roundRect">
            <a:avLst>
              <a:gd name="adj" fmla="val 8771"/>
            </a:avLst>
          </a:prstGeom>
          <a:solidFill>
            <a:srgbClr val="F4F7FC"/>
          </a:solidFill>
          <a:ln w="12700">
            <a:solidFill>
              <a:srgbClr val="17203A">
                <a:alpha val="13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3300" y="2920206"/>
            <a:ext cx="1028606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B8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Abdelwahab &amp; Abdel-Aty (2001)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03300" y="3282156"/>
            <a:ext cx="10286068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insignificant p=0.556 — time of day a weak predictor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723900" y="4083050"/>
            <a:ext cx="9909771" cy="1303338"/>
          </a:xfrm>
          <a:prstGeom prst="roundRect">
            <a:avLst>
              <a:gd name="adj" fmla="val 8770"/>
            </a:avLst>
          </a:prstGeom>
          <a:solidFill>
            <a:srgbClr val="F4F7FC"/>
          </a:solidFill>
          <a:ln w="12700">
            <a:solidFill>
              <a:srgbClr val="17203A">
                <a:alpha val="13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3300" y="4375944"/>
            <a:ext cx="1028606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B8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Mujalli &amp; de Oña (2011)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03300" y="4737894"/>
            <a:ext cx="10286068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weather P(KSI)=0.4653 &gt; rain 0.3124 — severity combinations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723900" y="5538788"/>
            <a:ext cx="9909771" cy="1303338"/>
          </a:xfrm>
          <a:prstGeom prst="roundRect">
            <a:avLst>
              <a:gd name="adj" fmla="val 8770"/>
            </a:avLst>
          </a:prstGeom>
          <a:solidFill>
            <a:srgbClr val="F4F7FC"/>
          </a:solidFill>
          <a:ln w="12700">
            <a:solidFill>
              <a:srgbClr val="17203A">
                <a:alpha val="13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3300" y="5831681"/>
            <a:ext cx="1028606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B8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Delen, Sharda &amp; Bessonov (2006)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003300" y="6193631"/>
            <a:ext cx="10286068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Min-max formula Eq. 1 — no single factor determines severity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723900" y="6994525"/>
            <a:ext cx="9909771" cy="1303338"/>
          </a:xfrm>
          <a:prstGeom prst="roundRect">
            <a:avLst>
              <a:gd name="adj" fmla="val 8770"/>
            </a:avLst>
          </a:prstGeom>
          <a:solidFill>
            <a:srgbClr val="F4F7FC"/>
          </a:solidFill>
          <a:ln w="12700">
            <a:solidFill>
              <a:srgbClr val="17203A">
                <a:alpha val="13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3300" y="7287419"/>
            <a:ext cx="1028606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B8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Savolainen et al. (2011)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003300" y="7649369"/>
            <a:ext cx="10286068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is ordinal — slight injuries undercounted 50–75%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723900" y="8450263"/>
            <a:ext cx="9909771" cy="1303139"/>
          </a:xfrm>
          <a:prstGeom prst="roundRect">
            <a:avLst>
              <a:gd name="adj" fmla="val 8771"/>
            </a:avLst>
          </a:prstGeom>
          <a:solidFill>
            <a:srgbClr val="F4F7FC"/>
          </a:solidFill>
          <a:ln w="12700">
            <a:solidFill>
              <a:srgbClr val="17203A">
                <a:alpha val="13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3300" y="8742958"/>
            <a:ext cx="1028606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B8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Rahm &amp; Do (2000)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003300" y="9104908"/>
            <a:ext cx="10286068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Garbage in, garbage out — 5-phase cleaning + 2×2 taxonomy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957521" y="2100461"/>
            <a:ext cx="7267238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C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Cross-Paper Findings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10957521" y="2627511"/>
            <a:ext cx="6606580" cy="1843484"/>
          </a:xfrm>
          <a:prstGeom prst="roundRect">
            <a:avLst>
              <a:gd name="adj" fmla="val 6200"/>
            </a:avLst>
          </a:prstGeom>
          <a:solidFill>
            <a:srgbClr val="F4F7FC"/>
          </a:solidFill>
          <a:ln w="12700">
            <a:solidFill>
              <a:srgbClr val="17203A">
                <a:alpha val="13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236921" y="3043635"/>
            <a:ext cx="6652558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D32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Variables</a:t>
            </a:r>
            <a:endParaRPr lang="en-US" sz="2025" dirty="0"/>
          </a:p>
        </p:txBody>
      </p:sp>
      <p:sp>
        <p:nvSpPr>
          <p:cNvPr id="25" name="Text 23"/>
          <p:cNvSpPr/>
          <p:nvPr/>
        </p:nvSpPr>
        <p:spPr>
          <a:xfrm>
            <a:off x="11236921" y="3411934"/>
            <a:ext cx="6229213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57"/>
              </a:lnSpc>
              <a:buNone/>
            </a:pPr>
            <a:r>
              <a:rPr lang="en-US" sz="1875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severity predictors — all three papers agree. RRSIS frames them as frequency/exposure analysis.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10957521" y="4623395"/>
            <a:ext cx="6606580" cy="1843484"/>
          </a:xfrm>
          <a:prstGeom prst="roundRect">
            <a:avLst>
              <a:gd name="adj" fmla="val 6200"/>
            </a:avLst>
          </a:prstGeom>
          <a:solidFill>
            <a:srgbClr val="F4F7FC"/>
          </a:solidFill>
          <a:ln w="12700">
            <a:solidFill>
              <a:srgbClr val="17203A">
                <a:alpha val="13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236921" y="5039519"/>
            <a:ext cx="6652558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D32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Adverse Weather</a:t>
            </a:r>
            <a:endParaRPr lang="en-US" sz="2025" dirty="0"/>
          </a:p>
        </p:txBody>
      </p:sp>
      <p:sp>
        <p:nvSpPr>
          <p:cNvPr id="28" name="Text 26"/>
          <p:cNvSpPr/>
          <p:nvPr/>
        </p:nvSpPr>
        <p:spPr>
          <a:xfrm>
            <a:off x="11236921" y="5407819"/>
            <a:ext cx="6229213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57"/>
              </a:lnSpc>
              <a:buNone/>
            </a:pPr>
            <a:r>
              <a:rPr lang="en-US" sz="1875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NOT increase severity — 8 of the top 10 combinations occur in fine weather.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10957521" y="6619280"/>
            <a:ext cx="6606580" cy="1843484"/>
          </a:xfrm>
          <a:prstGeom prst="roundRect">
            <a:avLst>
              <a:gd name="adj" fmla="val 6200"/>
            </a:avLst>
          </a:prstGeom>
          <a:solidFill>
            <a:srgbClr val="F4F7FC"/>
          </a:solidFill>
          <a:ln w="12700">
            <a:solidFill>
              <a:srgbClr val="17203A">
                <a:alpha val="13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236921" y="7035403"/>
            <a:ext cx="6652558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D32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Combinations Drive Severity</a:t>
            </a:r>
            <a:endParaRPr lang="en-US" sz="2025" dirty="0"/>
          </a:p>
        </p:txBody>
      </p:sp>
      <p:sp>
        <p:nvSpPr>
          <p:cNvPr id="31" name="Text 29"/>
          <p:cNvSpPr/>
          <p:nvPr/>
        </p:nvSpPr>
        <p:spPr>
          <a:xfrm>
            <a:off x="11236921" y="7403703"/>
            <a:ext cx="6229213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57"/>
              </a:lnSpc>
              <a:buNone/>
            </a:pPr>
            <a:r>
              <a:rPr lang="en-US" sz="1875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factor determines outcome. RRSIS Task 5 confirms this on 307,955 records.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10957521" y="8615363"/>
            <a:ext cx="6606580" cy="1138238"/>
          </a:xfrm>
          <a:prstGeom prst="roundRect">
            <a:avLst>
              <a:gd name="adj" fmla="val 10042"/>
            </a:avLst>
          </a:prstGeom>
          <a:solidFill>
            <a:srgbClr val="F4F7FC"/>
          </a:solidFill>
          <a:ln w="12700">
            <a:solidFill>
              <a:srgbClr val="17203A">
                <a:alpha val="13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236921" y="8837612"/>
            <a:ext cx="6245977" cy="731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457"/>
              </a:lnSpc>
              <a:buNone/>
            </a:pPr>
            <a:r>
              <a:rPr lang="en-US" sz="1950" b="1" dirty="0">
                <a:solidFill>
                  <a:srgbClr val="B8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RRSIS 307,955 records </a:t>
            </a:r>
            <a:r>
              <a:rPr lang="en-US" sz="1950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literature max 30,358 = </a:t>
            </a:r>
            <a:r>
              <a:rPr lang="en-US" sz="1950" b="1" dirty="0">
                <a:solidFill>
                  <a:srgbClr val="B8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10× more data</a:t>
            </a:r>
            <a:endParaRPr lang="en-US" sz="1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900" y="495300"/>
            <a:ext cx="2632908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RRSIS — GROUP 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682046" y="495300"/>
            <a:ext cx="958255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23900" y="1022350"/>
            <a:ext cx="18524220" cy="645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653"/>
              </a:lnSpc>
              <a:buNone/>
            </a:pPr>
            <a:r>
              <a:rPr lang="en-US" sz="4350" b="1" kern="0" spc="-65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and Future Recommendations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723900" y="1820466"/>
            <a:ext cx="914400" cy="38100"/>
          </a:xfrm>
          <a:prstGeom prst="roundRect">
            <a:avLst>
              <a:gd name="adj" fmla="val 50000"/>
            </a:avLst>
          </a:prstGeom>
          <a:solidFill>
            <a:srgbClr val="B87400"/>
          </a:solidFill>
          <a:ln/>
        </p:spPr>
      </p:sp>
      <p:sp>
        <p:nvSpPr>
          <p:cNvPr id="6" name="Text 4"/>
          <p:cNvSpPr/>
          <p:nvPr/>
        </p:nvSpPr>
        <p:spPr>
          <a:xfrm>
            <a:off x="723900" y="2163366"/>
            <a:ext cx="9083993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D32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Acknowledged Limitations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23900" y="2690416"/>
            <a:ext cx="8258175" cy="1066006"/>
          </a:xfrm>
          <a:prstGeom prst="roundRect">
            <a:avLst>
              <a:gd name="adj" fmla="val 10722"/>
            </a:avLst>
          </a:prstGeom>
          <a:solidFill>
            <a:srgbClr val="F4F7FC"/>
          </a:solidFill>
          <a:ln/>
        </p:spPr>
      </p:sp>
      <p:sp>
        <p:nvSpPr>
          <p:cNvPr id="8" name="Shape 6"/>
          <p:cNvSpPr/>
          <p:nvPr/>
        </p:nvSpPr>
        <p:spPr>
          <a:xfrm>
            <a:off x="723900" y="3743722"/>
            <a:ext cx="8258175" cy="12700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23900" y="2690416"/>
            <a:ext cx="8258175" cy="12700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23900" y="2690416"/>
            <a:ext cx="38100" cy="1066006"/>
          </a:xfrm>
          <a:prstGeom prst="rect">
            <a:avLst/>
          </a:prstGeom>
          <a:solidFill>
            <a:srgbClr val="D32F4F"/>
          </a:solidFill>
          <a:ln/>
        </p:spPr>
      </p:sp>
      <p:sp>
        <p:nvSpPr>
          <p:cNvPr id="11" name="Shape 9"/>
          <p:cNvSpPr/>
          <p:nvPr/>
        </p:nvSpPr>
        <p:spPr>
          <a:xfrm>
            <a:off x="8969375" y="2690416"/>
            <a:ext cx="12700" cy="1066006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09650" y="2899569"/>
            <a:ext cx="8483283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Surrogate Dataset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1009650" y="3229769"/>
            <a:ext cx="848328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data — not actual Rwanda accidents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23900" y="3889772"/>
            <a:ext cx="8258175" cy="1066006"/>
          </a:xfrm>
          <a:prstGeom prst="roundRect">
            <a:avLst>
              <a:gd name="adj" fmla="val 10722"/>
            </a:avLst>
          </a:prstGeom>
          <a:solidFill>
            <a:srgbClr val="F4F7FC"/>
          </a:solidFill>
          <a:ln/>
        </p:spPr>
      </p:sp>
      <p:sp>
        <p:nvSpPr>
          <p:cNvPr id="15" name="Shape 13"/>
          <p:cNvSpPr/>
          <p:nvPr/>
        </p:nvSpPr>
        <p:spPr>
          <a:xfrm>
            <a:off x="723900" y="4943078"/>
            <a:ext cx="8258175" cy="12700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23900" y="3889772"/>
            <a:ext cx="8258175" cy="12700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23900" y="3889772"/>
            <a:ext cx="38100" cy="1066006"/>
          </a:xfrm>
          <a:prstGeom prst="rect">
            <a:avLst/>
          </a:prstGeom>
          <a:solidFill>
            <a:srgbClr val="D32F4F"/>
          </a:solidFill>
          <a:ln/>
        </p:spPr>
      </p:sp>
      <p:sp>
        <p:nvSpPr>
          <p:cNvPr id="18" name="Shape 16"/>
          <p:cNvSpPr/>
          <p:nvPr/>
        </p:nvSpPr>
        <p:spPr>
          <a:xfrm>
            <a:off x="8969375" y="3889772"/>
            <a:ext cx="12700" cy="1066006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009650" y="4098925"/>
            <a:ext cx="8483283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Model Validation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1009650" y="4429125"/>
            <a:ext cx="848328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Descriptive tool — no accuracy figure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23900" y="5089128"/>
            <a:ext cx="8258175" cy="1066205"/>
          </a:xfrm>
          <a:prstGeom prst="roundRect">
            <a:avLst>
              <a:gd name="adj" fmla="val 10720"/>
            </a:avLst>
          </a:prstGeom>
          <a:solidFill>
            <a:srgbClr val="F4F7FC"/>
          </a:solidFill>
          <a:ln/>
        </p:spPr>
      </p:sp>
      <p:sp>
        <p:nvSpPr>
          <p:cNvPr id="22" name="Shape 20"/>
          <p:cNvSpPr/>
          <p:nvPr/>
        </p:nvSpPr>
        <p:spPr>
          <a:xfrm>
            <a:off x="723900" y="6142633"/>
            <a:ext cx="8258175" cy="12700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23900" y="5089128"/>
            <a:ext cx="8258175" cy="12700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23900" y="5089128"/>
            <a:ext cx="38100" cy="1066205"/>
          </a:xfrm>
          <a:prstGeom prst="rect">
            <a:avLst/>
          </a:prstGeom>
          <a:solidFill>
            <a:srgbClr val="D32F4F"/>
          </a:solidFill>
          <a:ln/>
        </p:spPr>
      </p:sp>
      <p:sp>
        <p:nvSpPr>
          <p:cNvPr id="25" name="Shape 23"/>
          <p:cNvSpPr/>
          <p:nvPr/>
        </p:nvSpPr>
        <p:spPr>
          <a:xfrm>
            <a:off x="8969375" y="5089128"/>
            <a:ext cx="12700" cy="1066205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009650" y="5298281"/>
            <a:ext cx="8483283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Weights</a:t>
            </a:r>
            <a:endParaRPr lang="en-US" sz="2025" dirty="0"/>
          </a:p>
        </p:txBody>
      </p:sp>
      <p:sp>
        <p:nvSpPr>
          <p:cNvPr id="27" name="Text 25"/>
          <p:cNvSpPr/>
          <p:nvPr/>
        </p:nvSpPr>
        <p:spPr>
          <a:xfrm>
            <a:off x="1009650" y="5628481"/>
            <a:ext cx="848328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0.3/0.4/0.3 assigned by judgement, not data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23900" y="6288683"/>
            <a:ext cx="8258175" cy="1066006"/>
          </a:xfrm>
          <a:prstGeom prst="roundRect">
            <a:avLst>
              <a:gd name="adj" fmla="val 10722"/>
            </a:avLst>
          </a:prstGeom>
          <a:solidFill>
            <a:srgbClr val="F4F7FC"/>
          </a:solidFill>
          <a:ln/>
        </p:spPr>
      </p:sp>
      <p:sp>
        <p:nvSpPr>
          <p:cNvPr id="29" name="Shape 27"/>
          <p:cNvSpPr/>
          <p:nvPr/>
        </p:nvSpPr>
        <p:spPr>
          <a:xfrm>
            <a:off x="723900" y="7341989"/>
            <a:ext cx="8258175" cy="12700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23900" y="6288683"/>
            <a:ext cx="8258175" cy="12700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23900" y="6288683"/>
            <a:ext cx="38100" cy="1066006"/>
          </a:xfrm>
          <a:prstGeom prst="rect">
            <a:avLst/>
          </a:prstGeom>
          <a:solidFill>
            <a:srgbClr val="D32F4F"/>
          </a:solidFill>
          <a:ln/>
        </p:spPr>
      </p:sp>
      <p:sp>
        <p:nvSpPr>
          <p:cNvPr id="32" name="Shape 30"/>
          <p:cNvSpPr/>
          <p:nvPr/>
        </p:nvSpPr>
        <p:spPr>
          <a:xfrm>
            <a:off x="8969375" y="6288683"/>
            <a:ext cx="12700" cy="1066006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009650" y="6497836"/>
            <a:ext cx="8483283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Variables Reframed</a:t>
            </a:r>
            <a:endParaRPr lang="en-US" sz="2025" dirty="0"/>
          </a:p>
        </p:txBody>
      </p:sp>
      <p:sp>
        <p:nvSpPr>
          <p:cNvPr id="34" name="Text 32"/>
          <p:cNvSpPr/>
          <p:nvPr/>
        </p:nvSpPr>
        <p:spPr>
          <a:xfrm>
            <a:off x="1009650" y="6828036"/>
            <a:ext cx="848328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is exposure, not severity explanation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23900" y="7488039"/>
            <a:ext cx="8258175" cy="1066006"/>
          </a:xfrm>
          <a:prstGeom prst="roundRect">
            <a:avLst>
              <a:gd name="adj" fmla="val 10722"/>
            </a:avLst>
          </a:prstGeom>
          <a:solidFill>
            <a:srgbClr val="F4F7FC"/>
          </a:solidFill>
          <a:ln/>
        </p:spPr>
      </p:sp>
      <p:sp>
        <p:nvSpPr>
          <p:cNvPr id="36" name="Shape 34"/>
          <p:cNvSpPr/>
          <p:nvPr/>
        </p:nvSpPr>
        <p:spPr>
          <a:xfrm>
            <a:off x="723900" y="8541346"/>
            <a:ext cx="8258175" cy="12700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23900" y="7488039"/>
            <a:ext cx="8258175" cy="12700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23900" y="7488039"/>
            <a:ext cx="38100" cy="1066006"/>
          </a:xfrm>
          <a:prstGeom prst="rect">
            <a:avLst/>
          </a:prstGeom>
          <a:solidFill>
            <a:srgbClr val="D32F4F"/>
          </a:solidFill>
          <a:ln/>
        </p:spPr>
      </p:sp>
      <p:sp>
        <p:nvSpPr>
          <p:cNvPr id="39" name="Shape 37"/>
          <p:cNvSpPr/>
          <p:nvPr/>
        </p:nvSpPr>
        <p:spPr>
          <a:xfrm>
            <a:off x="8969375" y="7488039"/>
            <a:ext cx="12700" cy="1066006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1009650" y="7697192"/>
            <a:ext cx="8483283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Correlation</a:t>
            </a:r>
            <a:endParaRPr lang="en-US" sz="2025" dirty="0"/>
          </a:p>
        </p:txBody>
      </p:sp>
      <p:sp>
        <p:nvSpPr>
          <p:cNvPr id="41" name="Text 39"/>
          <p:cNvSpPr/>
          <p:nvPr/>
        </p:nvSpPr>
        <p:spPr>
          <a:xfrm>
            <a:off x="1009650" y="8027393"/>
            <a:ext cx="848328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Adjacent locations share unobserved effects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723900" y="8687395"/>
            <a:ext cx="8258175" cy="1066205"/>
          </a:xfrm>
          <a:prstGeom prst="roundRect">
            <a:avLst>
              <a:gd name="adj" fmla="val 10720"/>
            </a:avLst>
          </a:prstGeom>
          <a:solidFill>
            <a:srgbClr val="F4F7FC"/>
          </a:solidFill>
          <a:ln/>
        </p:spPr>
      </p:sp>
      <p:sp>
        <p:nvSpPr>
          <p:cNvPr id="43" name="Shape 41"/>
          <p:cNvSpPr/>
          <p:nvPr/>
        </p:nvSpPr>
        <p:spPr>
          <a:xfrm>
            <a:off x="723900" y="9740900"/>
            <a:ext cx="8258175" cy="12700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23900" y="8687395"/>
            <a:ext cx="8258175" cy="12700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23900" y="8687395"/>
            <a:ext cx="38100" cy="1066205"/>
          </a:xfrm>
          <a:prstGeom prst="rect">
            <a:avLst/>
          </a:prstGeom>
          <a:solidFill>
            <a:srgbClr val="D32F4F"/>
          </a:solidFill>
          <a:ln/>
        </p:spPr>
      </p:sp>
      <p:sp>
        <p:nvSpPr>
          <p:cNvPr id="46" name="Shape 44"/>
          <p:cNvSpPr/>
          <p:nvPr/>
        </p:nvSpPr>
        <p:spPr>
          <a:xfrm>
            <a:off x="8969375" y="8687395"/>
            <a:ext cx="12700" cy="1066205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1009650" y="8896549"/>
            <a:ext cx="8483283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Underreporting Bias</a:t>
            </a:r>
            <a:endParaRPr lang="en-US" sz="2025" dirty="0"/>
          </a:p>
        </p:txBody>
      </p:sp>
      <p:sp>
        <p:nvSpPr>
          <p:cNvPr id="48" name="Text 46"/>
          <p:cNvSpPr/>
          <p:nvPr/>
        </p:nvSpPr>
        <p:spPr>
          <a:xfrm>
            <a:off x="1009650" y="9226748"/>
            <a:ext cx="848328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Slight injuries undercounted 50–75%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9305925" y="2163366"/>
            <a:ext cx="9083993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C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Recommendations</a:t>
            </a:r>
            <a:endParaRPr lang="en-US" sz="2400" dirty="0"/>
          </a:p>
        </p:txBody>
      </p:sp>
      <p:sp>
        <p:nvSpPr>
          <p:cNvPr id="50" name="Shape 48"/>
          <p:cNvSpPr/>
          <p:nvPr/>
        </p:nvSpPr>
        <p:spPr>
          <a:xfrm>
            <a:off x="9305925" y="2690416"/>
            <a:ext cx="8258175" cy="1066006"/>
          </a:xfrm>
          <a:prstGeom prst="roundRect">
            <a:avLst>
              <a:gd name="adj" fmla="val 10722"/>
            </a:avLst>
          </a:prstGeom>
          <a:solidFill>
            <a:srgbClr val="F4F7FC"/>
          </a:solidFill>
          <a:ln/>
        </p:spPr>
      </p:sp>
      <p:sp>
        <p:nvSpPr>
          <p:cNvPr id="51" name="Shape 49"/>
          <p:cNvSpPr/>
          <p:nvPr/>
        </p:nvSpPr>
        <p:spPr>
          <a:xfrm>
            <a:off x="9305925" y="3743722"/>
            <a:ext cx="8258175" cy="12700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305925" y="2690416"/>
            <a:ext cx="8258175" cy="12700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305925" y="2690416"/>
            <a:ext cx="38100" cy="1066006"/>
          </a:xfrm>
          <a:prstGeom prst="rect">
            <a:avLst/>
          </a:prstGeom>
          <a:solidFill>
            <a:srgbClr val="2C6CA8"/>
          </a:solidFill>
          <a:ln/>
        </p:spPr>
      </p:sp>
      <p:sp>
        <p:nvSpPr>
          <p:cNvPr id="54" name="Shape 52"/>
          <p:cNvSpPr/>
          <p:nvPr/>
        </p:nvSpPr>
        <p:spPr>
          <a:xfrm>
            <a:off x="17551400" y="2690416"/>
            <a:ext cx="12700" cy="1066006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9591675" y="2899569"/>
            <a:ext cx="8483283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to Rwanda National Police Data</a:t>
            </a:r>
            <a:endParaRPr lang="en-US" sz="2025" dirty="0"/>
          </a:p>
        </p:txBody>
      </p:sp>
      <p:sp>
        <p:nvSpPr>
          <p:cNvPr id="56" name="Text 54"/>
          <p:cNvSpPr/>
          <p:nvPr/>
        </p:nvSpPr>
        <p:spPr>
          <a:xfrm>
            <a:off x="9591675" y="3229769"/>
            <a:ext cx="848328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Substitute HDFS path and column mapping only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9305925" y="3889772"/>
            <a:ext cx="8258175" cy="1066006"/>
          </a:xfrm>
          <a:prstGeom prst="roundRect">
            <a:avLst>
              <a:gd name="adj" fmla="val 10722"/>
            </a:avLst>
          </a:prstGeom>
          <a:solidFill>
            <a:srgbClr val="F4F7FC"/>
          </a:solidFill>
          <a:ln/>
        </p:spPr>
      </p:sp>
      <p:sp>
        <p:nvSpPr>
          <p:cNvPr id="58" name="Shape 56"/>
          <p:cNvSpPr/>
          <p:nvPr/>
        </p:nvSpPr>
        <p:spPr>
          <a:xfrm>
            <a:off x="9305925" y="4943078"/>
            <a:ext cx="8258175" cy="12700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305925" y="3889772"/>
            <a:ext cx="8258175" cy="12700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305925" y="3889772"/>
            <a:ext cx="38100" cy="1066006"/>
          </a:xfrm>
          <a:prstGeom prst="rect">
            <a:avLst/>
          </a:prstGeom>
          <a:solidFill>
            <a:srgbClr val="2C6CA8"/>
          </a:solidFill>
          <a:ln/>
        </p:spPr>
      </p:sp>
      <p:sp>
        <p:nvSpPr>
          <p:cNvPr id="61" name="Shape 59"/>
          <p:cNvSpPr/>
          <p:nvPr/>
        </p:nvSpPr>
        <p:spPr>
          <a:xfrm>
            <a:off x="17551400" y="3889772"/>
            <a:ext cx="12700" cy="1066006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9591675" y="4098925"/>
            <a:ext cx="8483283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Validation Split</a:t>
            </a:r>
            <a:endParaRPr lang="en-US" sz="2025" dirty="0"/>
          </a:p>
        </p:txBody>
      </p:sp>
      <p:sp>
        <p:nvSpPr>
          <p:cNvPr id="63" name="Text 61"/>
          <p:cNvSpPr/>
          <p:nvPr/>
        </p:nvSpPr>
        <p:spPr>
          <a:xfrm>
            <a:off x="9591675" y="4429125"/>
            <a:ext cx="848328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on 2021, test on 2022 — check ranking stability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9305925" y="5089128"/>
            <a:ext cx="8258175" cy="1066205"/>
          </a:xfrm>
          <a:prstGeom prst="roundRect">
            <a:avLst>
              <a:gd name="adj" fmla="val 10720"/>
            </a:avLst>
          </a:prstGeom>
          <a:solidFill>
            <a:srgbClr val="F4F7FC"/>
          </a:solidFill>
          <a:ln/>
        </p:spPr>
      </p:sp>
      <p:sp>
        <p:nvSpPr>
          <p:cNvPr id="65" name="Shape 63"/>
          <p:cNvSpPr/>
          <p:nvPr/>
        </p:nvSpPr>
        <p:spPr>
          <a:xfrm>
            <a:off x="9305925" y="6142633"/>
            <a:ext cx="8258175" cy="12700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305925" y="5089128"/>
            <a:ext cx="8258175" cy="12700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305925" y="5089128"/>
            <a:ext cx="38100" cy="1066205"/>
          </a:xfrm>
          <a:prstGeom prst="rect">
            <a:avLst/>
          </a:prstGeom>
          <a:solidFill>
            <a:srgbClr val="2C6CA8"/>
          </a:solidFill>
          <a:ln/>
        </p:spPr>
      </p:sp>
      <p:sp>
        <p:nvSpPr>
          <p:cNvPr id="68" name="Shape 66"/>
          <p:cNvSpPr/>
          <p:nvPr/>
        </p:nvSpPr>
        <p:spPr>
          <a:xfrm>
            <a:off x="17551400" y="5089128"/>
            <a:ext cx="12700" cy="1066205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9591675" y="5298281"/>
            <a:ext cx="8483283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 Weights Empirically</a:t>
            </a:r>
            <a:endParaRPr lang="en-US" sz="2025" dirty="0"/>
          </a:p>
        </p:txBody>
      </p:sp>
      <p:sp>
        <p:nvSpPr>
          <p:cNvPr id="70" name="Text 68"/>
          <p:cNvSpPr/>
          <p:nvPr/>
        </p:nvSpPr>
        <p:spPr>
          <a:xfrm>
            <a:off x="9591675" y="5628481"/>
            <a:ext cx="848328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 analysis instead of fixed judgement</a:t>
            </a:r>
            <a:endParaRPr lang="en-US" sz="1800" dirty="0"/>
          </a:p>
        </p:txBody>
      </p:sp>
      <p:sp>
        <p:nvSpPr>
          <p:cNvPr id="71" name="Shape 69"/>
          <p:cNvSpPr/>
          <p:nvPr/>
        </p:nvSpPr>
        <p:spPr>
          <a:xfrm>
            <a:off x="9305925" y="6288683"/>
            <a:ext cx="8258175" cy="1066006"/>
          </a:xfrm>
          <a:prstGeom prst="roundRect">
            <a:avLst>
              <a:gd name="adj" fmla="val 10722"/>
            </a:avLst>
          </a:prstGeom>
          <a:solidFill>
            <a:srgbClr val="F4F7FC"/>
          </a:solidFill>
          <a:ln/>
        </p:spPr>
      </p:sp>
      <p:sp>
        <p:nvSpPr>
          <p:cNvPr id="72" name="Shape 70"/>
          <p:cNvSpPr/>
          <p:nvPr/>
        </p:nvSpPr>
        <p:spPr>
          <a:xfrm>
            <a:off x="9305925" y="7341989"/>
            <a:ext cx="8258175" cy="12700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9305925" y="6288683"/>
            <a:ext cx="8258175" cy="12700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9305925" y="6288683"/>
            <a:ext cx="38100" cy="1066006"/>
          </a:xfrm>
          <a:prstGeom prst="rect">
            <a:avLst/>
          </a:prstGeom>
          <a:solidFill>
            <a:srgbClr val="2C6CA8"/>
          </a:solidFill>
          <a:ln/>
        </p:spPr>
      </p:sp>
      <p:sp>
        <p:nvSpPr>
          <p:cNvPr id="75" name="Shape 73"/>
          <p:cNvSpPr/>
          <p:nvPr/>
        </p:nvSpPr>
        <p:spPr>
          <a:xfrm>
            <a:off x="17551400" y="6288683"/>
            <a:ext cx="12700" cy="1066006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9591675" y="6497836"/>
            <a:ext cx="8483283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Exposure Denominator</a:t>
            </a:r>
            <a:endParaRPr lang="en-US" sz="2025" dirty="0"/>
          </a:p>
        </p:txBody>
      </p:sp>
      <p:sp>
        <p:nvSpPr>
          <p:cNvPr id="77" name="Text 75"/>
          <p:cNvSpPr/>
          <p:nvPr/>
        </p:nvSpPr>
        <p:spPr>
          <a:xfrm>
            <a:off x="9591675" y="6828036"/>
            <a:ext cx="848328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volume per location — rate, not burden</a:t>
            </a:r>
            <a:endParaRPr lang="en-US" sz="1800" dirty="0"/>
          </a:p>
        </p:txBody>
      </p:sp>
      <p:sp>
        <p:nvSpPr>
          <p:cNvPr id="78" name="Shape 76"/>
          <p:cNvSpPr/>
          <p:nvPr/>
        </p:nvSpPr>
        <p:spPr>
          <a:xfrm>
            <a:off x="9305925" y="7488039"/>
            <a:ext cx="8258175" cy="1066006"/>
          </a:xfrm>
          <a:prstGeom prst="roundRect">
            <a:avLst>
              <a:gd name="adj" fmla="val 10722"/>
            </a:avLst>
          </a:prstGeom>
          <a:solidFill>
            <a:srgbClr val="F4F7FC"/>
          </a:solidFill>
          <a:ln/>
        </p:spPr>
      </p:sp>
      <p:sp>
        <p:nvSpPr>
          <p:cNvPr id="79" name="Shape 77"/>
          <p:cNvSpPr/>
          <p:nvPr/>
        </p:nvSpPr>
        <p:spPr>
          <a:xfrm>
            <a:off x="9305925" y="8541346"/>
            <a:ext cx="8258175" cy="12700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9305925" y="7488039"/>
            <a:ext cx="8258175" cy="12700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9305925" y="7488039"/>
            <a:ext cx="38100" cy="1066006"/>
          </a:xfrm>
          <a:prstGeom prst="rect">
            <a:avLst/>
          </a:prstGeom>
          <a:solidFill>
            <a:srgbClr val="2C6CA8"/>
          </a:solidFill>
          <a:ln/>
        </p:spPr>
      </p:sp>
      <p:sp>
        <p:nvSpPr>
          <p:cNvPr id="82" name="Shape 80"/>
          <p:cNvSpPr/>
          <p:nvPr/>
        </p:nvSpPr>
        <p:spPr>
          <a:xfrm>
            <a:off x="17551400" y="7488039"/>
            <a:ext cx="12700" cy="1066006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83" name="Text 81"/>
          <p:cNvSpPr/>
          <p:nvPr/>
        </p:nvSpPr>
        <p:spPr>
          <a:xfrm>
            <a:off x="9591675" y="7697192"/>
            <a:ext cx="8483283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Processing</a:t>
            </a:r>
            <a:endParaRPr lang="en-US" sz="2025" dirty="0"/>
          </a:p>
        </p:txBody>
      </p:sp>
      <p:sp>
        <p:nvSpPr>
          <p:cNvPr id="84" name="Text 82"/>
          <p:cNvSpPr/>
          <p:nvPr/>
        </p:nvSpPr>
        <p:spPr>
          <a:xfrm>
            <a:off x="9591675" y="8027393"/>
            <a:ext cx="848328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 Structured Streaming for live detection</a:t>
            </a:r>
            <a:endParaRPr lang="en-US" sz="1800" dirty="0"/>
          </a:p>
        </p:txBody>
      </p:sp>
      <p:sp>
        <p:nvSpPr>
          <p:cNvPr id="85" name="Shape 83"/>
          <p:cNvSpPr/>
          <p:nvPr/>
        </p:nvSpPr>
        <p:spPr>
          <a:xfrm>
            <a:off x="9305925" y="8687395"/>
            <a:ext cx="8258175" cy="1066205"/>
          </a:xfrm>
          <a:prstGeom prst="roundRect">
            <a:avLst>
              <a:gd name="adj" fmla="val 10720"/>
            </a:avLst>
          </a:prstGeom>
          <a:solidFill>
            <a:srgbClr val="F4F7FC"/>
          </a:solidFill>
          <a:ln/>
        </p:spPr>
      </p:sp>
      <p:sp>
        <p:nvSpPr>
          <p:cNvPr id="86" name="Shape 84"/>
          <p:cNvSpPr/>
          <p:nvPr/>
        </p:nvSpPr>
        <p:spPr>
          <a:xfrm>
            <a:off x="9305925" y="9740900"/>
            <a:ext cx="8258175" cy="12700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9305925" y="8687395"/>
            <a:ext cx="8258175" cy="12700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9305925" y="8687395"/>
            <a:ext cx="38100" cy="1066205"/>
          </a:xfrm>
          <a:prstGeom prst="rect">
            <a:avLst/>
          </a:prstGeom>
          <a:solidFill>
            <a:srgbClr val="2C6CA8"/>
          </a:solidFill>
          <a:ln/>
        </p:spPr>
      </p:sp>
      <p:sp>
        <p:nvSpPr>
          <p:cNvPr id="89" name="Shape 87"/>
          <p:cNvSpPr/>
          <p:nvPr/>
        </p:nvSpPr>
        <p:spPr>
          <a:xfrm>
            <a:off x="17551400" y="8687395"/>
            <a:ext cx="12700" cy="1066205"/>
          </a:xfrm>
          <a:prstGeom prst="rect">
            <a:avLst/>
          </a:prstGeom>
          <a:solidFill>
            <a:srgbClr val="17203A">
              <a:alpha val="13000"/>
            </a:srgbClr>
          </a:solidFill>
          <a:ln/>
        </p:spPr>
      </p:sp>
      <p:sp>
        <p:nvSpPr>
          <p:cNvPr id="90" name="Text 88"/>
          <p:cNvSpPr/>
          <p:nvPr/>
        </p:nvSpPr>
        <p:spPr>
          <a:xfrm>
            <a:off x="9591675" y="8896549"/>
            <a:ext cx="8483283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Rwanda GIS Integration</a:t>
            </a:r>
            <a:endParaRPr lang="en-US" sz="2025" dirty="0"/>
          </a:p>
        </p:txBody>
      </p:sp>
      <p:sp>
        <p:nvSpPr>
          <p:cNvPr id="91" name="Text 89"/>
          <p:cNvSpPr/>
          <p:nvPr/>
        </p:nvSpPr>
        <p:spPr>
          <a:xfrm>
            <a:off x="9591675" y="9226748"/>
            <a:ext cx="848328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Corridor-level spatial analysis — addresses L5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C6CA8">
                  <a:alpha val="10000"/>
                </a:srgbClr>
              </a:gs>
              <a:gs pos="70000">
                <a:srgbClr val="2C6CA8">
                  <a:alpha val="0"/>
                </a:srgbClr>
              </a:gs>
            </a:gsLst>
            <a:path path="circle">
              <a:fillToRect l="88000" t="8000" r="12000" b="92000"/>
            </a:path>
          </a:gra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-1582" r="-1582"/>
          <a:stretch/>
        </p:blipFill>
        <p:spPr>
          <a:xfrm>
            <a:off x="723900" y="495300"/>
            <a:ext cx="609600" cy="60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4950" y="641350"/>
            <a:ext cx="2469753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RRSIS — GROUP 15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6682046" y="641350"/>
            <a:ext cx="958255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16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23900" y="1333500"/>
            <a:ext cx="1852422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364"/>
              </a:lnSpc>
              <a:buNone/>
            </a:pPr>
            <a:r>
              <a:rPr lang="en-US" sz="5700" b="1" kern="0" spc="-114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5700" dirty="0"/>
          </a:p>
        </p:txBody>
      </p:sp>
      <p:sp>
        <p:nvSpPr>
          <p:cNvPr id="7" name="Shape 4"/>
          <p:cNvSpPr/>
          <p:nvPr/>
        </p:nvSpPr>
        <p:spPr>
          <a:xfrm>
            <a:off x="723900" y="2266950"/>
            <a:ext cx="1143000" cy="47625"/>
          </a:xfrm>
          <a:prstGeom prst="roundRect">
            <a:avLst>
              <a:gd name="adj" fmla="val 50000"/>
            </a:avLst>
          </a:prstGeom>
          <a:solidFill>
            <a:srgbClr val="B87400"/>
          </a:solidFill>
          <a:ln/>
        </p:spPr>
      </p:sp>
      <p:sp>
        <p:nvSpPr>
          <p:cNvPr id="8" name="Shape 5"/>
          <p:cNvSpPr/>
          <p:nvPr/>
        </p:nvSpPr>
        <p:spPr>
          <a:xfrm>
            <a:off x="723900" y="2638425"/>
            <a:ext cx="8286750" cy="2025848"/>
          </a:xfrm>
          <a:prstGeom prst="roundRect">
            <a:avLst>
              <a:gd name="adj" fmla="val 6582"/>
            </a:avLst>
          </a:prstGeom>
          <a:solidFill>
            <a:srgbClr val="F4F7FC"/>
          </a:solidFill>
          <a:ln w="12700">
            <a:solidFill>
              <a:srgbClr val="17203A">
                <a:alpha val="13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79500" y="2936875"/>
            <a:ext cx="8333105" cy="578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479"/>
              </a:lnSpc>
              <a:buNone/>
            </a:pPr>
            <a:r>
              <a:rPr lang="en-US" sz="4050" b="1" dirty="0">
                <a:solidFill>
                  <a:srgbClr val="B8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307,955 Records</a:t>
            </a:r>
            <a:endParaRPr lang="en-US" sz="4050" dirty="0"/>
          </a:p>
        </p:txBody>
      </p:sp>
      <p:sp>
        <p:nvSpPr>
          <p:cNvPr id="10" name="Text 7"/>
          <p:cNvSpPr/>
          <p:nvPr/>
        </p:nvSpPr>
        <p:spPr>
          <a:xfrm>
            <a:off x="1079500" y="3591124"/>
            <a:ext cx="833310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Processed on HDFS + PySpark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079500" y="4010224"/>
            <a:ext cx="8333105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max 30,358 in any reviewed paper</a:t>
            </a:r>
            <a:endParaRPr lang="en-US" sz="1950" dirty="0"/>
          </a:p>
        </p:txBody>
      </p:sp>
      <p:sp>
        <p:nvSpPr>
          <p:cNvPr id="12" name="Shape 9"/>
          <p:cNvSpPr/>
          <p:nvPr/>
        </p:nvSpPr>
        <p:spPr>
          <a:xfrm>
            <a:off x="9277350" y="2638425"/>
            <a:ext cx="8286750" cy="2025848"/>
          </a:xfrm>
          <a:prstGeom prst="roundRect">
            <a:avLst>
              <a:gd name="adj" fmla="val 6582"/>
            </a:avLst>
          </a:prstGeom>
          <a:solidFill>
            <a:srgbClr val="F4F7FC"/>
          </a:solidFill>
          <a:ln w="12700">
            <a:solidFill>
              <a:srgbClr val="17203A">
                <a:alpha val="13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32950" y="2936875"/>
            <a:ext cx="8333105" cy="578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479"/>
              </a:lnSpc>
              <a:buNone/>
            </a:pPr>
            <a:r>
              <a:rPr lang="en-US" sz="4050" b="1" dirty="0">
                <a:solidFill>
                  <a:srgbClr val="B8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99.994% Retention</a:t>
            </a:r>
            <a:endParaRPr lang="en-US" sz="4050" dirty="0"/>
          </a:p>
        </p:txBody>
      </p:sp>
      <p:sp>
        <p:nvSpPr>
          <p:cNvPr id="14" name="Text 11"/>
          <p:cNvSpPr/>
          <p:nvPr/>
        </p:nvSpPr>
        <p:spPr>
          <a:xfrm>
            <a:off x="9632950" y="3591124"/>
            <a:ext cx="833310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cleaning 8 quality issues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9632950" y="4010224"/>
            <a:ext cx="8333105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9.5–53% losses in the literature</a:t>
            </a:r>
            <a:endParaRPr lang="en-US" sz="1950" dirty="0"/>
          </a:p>
        </p:txBody>
      </p:sp>
      <p:sp>
        <p:nvSpPr>
          <p:cNvPr id="16" name="Shape 13"/>
          <p:cNvSpPr/>
          <p:nvPr/>
        </p:nvSpPr>
        <p:spPr>
          <a:xfrm>
            <a:off x="723900" y="4930973"/>
            <a:ext cx="8286750" cy="2025848"/>
          </a:xfrm>
          <a:prstGeom prst="roundRect">
            <a:avLst>
              <a:gd name="adj" fmla="val 6582"/>
            </a:avLst>
          </a:prstGeom>
          <a:solidFill>
            <a:srgbClr val="F4F7FC"/>
          </a:solidFill>
          <a:ln w="12700">
            <a:solidFill>
              <a:srgbClr val="17203A">
                <a:alpha val="13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79500" y="5229424"/>
            <a:ext cx="8333105" cy="578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479"/>
              </a:lnSpc>
              <a:buNone/>
            </a:pPr>
            <a:r>
              <a:rPr lang="en-US" sz="4050" b="1" dirty="0">
                <a:solidFill>
                  <a:srgbClr val="B8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Ranked Priorities</a:t>
            </a:r>
            <a:endParaRPr lang="en-US" sz="4050" dirty="0"/>
          </a:p>
        </p:txBody>
      </p:sp>
      <p:sp>
        <p:nvSpPr>
          <p:cNvPr id="18" name="Text 15"/>
          <p:cNvSpPr/>
          <p:nvPr/>
        </p:nvSpPr>
        <p:spPr>
          <a:xfrm>
            <a:off x="1079500" y="5883672"/>
            <a:ext cx="833310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full numerical evidence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1079500" y="6302772"/>
            <a:ext cx="8333105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Evidence-based, actionable, transparent</a:t>
            </a:r>
            <a:endParaRPr lang="en-US" sz="1950" dirty="0"/>
          </a:p>
        </p:txBody>
      </p:sp>
      <p:sp>
        <p:nvSpPr>
          <p:cNvPr id="20" name="Shape 17"/>
          <p:cNvSpPr/>
          <p:nvPr/>
        </p:nvSpPr>
        <p:spPr>
          <a:xfrm>
            <a:off x="9277350" y="4930973"/>
            <a:ext cx="8286750" cy="2025848"/>
          </a:xfrm>
          <a:prstGeom prst="roundRect">
            <a:avLst>
              <a:gd name="adj" fmla="val 6582"/>
            </a:avLst>
          </a:prstGeom>
          <a:solidFill>
            <a:srgbClr val="F4F7FC"/>
          </a:solidFill>
          <a:ln w="12700">
            <a:solidFill>
              <a:srgbClr val="17203A">
                <a:alpha val="13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32950" y="5229424"/>
            <a:ext cx="8333105" cy="578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479"/>
              </a:lnSpc>
              <a:buNone/>
            </a:pPr>
            <a:r>
              <a:rPr lang="en-US" sz="4050" b="1" dirty="0">
                <a:solidFill>
                  <a:srgbClr val="D32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Rwanda</a:t>
            </a:r>
            <a:endParaRPr lang="en-US" sz="4050" dirty="0"/>
          </a:p>
        </p:txBody>
      </p:sp>
      <p:sp>
        <p:nvSpPr>
          <p:cNvPr id="22" name="Text 19"/>
          <p:cNvSpPr/>
          <p:nvPr/>
        </p:nvSpPr>
        <p:spPr>
          <a:xfrm>
            <a:off x="9632950" y="5883672"/>
            <a:ext cx="833310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Substitute the HDFS path only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9632950" y="6302772"/>
            <a:ext cx="8333105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to RNP data when access is granted</a:t>
            </a:r>
            <a:endParaRPr lang="en-US" sz="1950" dirty="0"/>
          </a:p>
        </p:txBody>
      </p:sp>
      <p:sp>
        <p:nvSpPr>
          <p:cNvPr id="24" name="Text 21"/>
          <p:cNvSpPr/>
          <p:nvPr/>
        </p:nvSpPr>
        <p:spPr>
          <a:xfrm>
            <a:off x="-118110" y="7072313"/>
            <a:ext cx="18524220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7955"/>
              </a:lnSpc>
              <a:buNone/>
            </a:pPr>
            <a:r>
              <a:rPr lang="en-US" sz="2850" b="1" dirty="0">
                <a:solidFill>
                  <a:srgbClr val="B8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RRSIS — Turning accident records into ranked management priorities</a:t>
            </a:r>
            <a:endParaRPr lang="en-US" sz="2850" dirty="0"/>
          </a:p>
        </p:txBody>
      </p:sp>
      <p:sp>
        <p:nvSpPr>
          <p:cNvPr id="25" name="Shape 22"/>
          <p:cNvSpPr/>
          <p:nvPr/>
        </p:nvSpPr>
        <p:spPr>
          <a:xfrm>
            <a:off x="723900" y="7791450"/>
            <a:ext cx="16840200" cy="1244600"/>
          </a:xfrm>
          <a:prstGeom prst="roundRect">
            <a:avLst>
              <a:gd name="adj" fmla="val 10714"/>
            </a:avLst>
          </a:prstGeom>
          <a:solidFill>
            <a:srgbClr val="F4F7FC"/>
          </a:solidFill>
          <a:ln w="12700">
            <a:solidFill>
              <a:srgbClr val="17203A">
                <a:alpha val="16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73050" y="8051800"/>
            <a:ext cx="177419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7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Rubagumya Brave | Uwizeye Christelle | Rwagasana Felicien</a:t>
            </a:r>
            <a:endParaRPr lang="en-US" sz="2100" dirty="0"/>
          </a:p>
        </p:txBody>
      </p:sp>
      <p:sp>
        <p:nvSpPr>
          <p:cNvPr id="27" name="Text 24"/>
          <p:cNvSpPr/>
          <p:nvPr/>
        </p:nvSpPr>
        <p:spPr>
          <a:xfrm>
            <a:off x="273050" y="8432800"/>
            <a:ext cx="177419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dirty="0">
                <a:solidFill>
                  <a:srgbClr val="5D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15 — Big Data Essentials — AUCA — September 2026 | Lecturer: Dr. Kundan Kumar</a:t>
            </a:r>
            <a:endParaRPr lang="en-US" sz="1875" dirty="0"/>
          </a:p>
        </p:txBody>
      </p:sp>
      <p:sp>
        <p:nvSpPr>
          <p:cNvPr id="28" name="Text 25"/>
          <p:cNvSpPr/>
          <p:nvPr/>
        </p:nvSpPr>
        <p:spPr>
          <a:xfrm>
            <a:off x="-118110" y="9283700"/>
            <a:ext cx="18524220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150" b="1" kern="0" spc="32" dirty="0">
                <a:solidFill>
                  <a:srgbClr val="2C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— Open for Questions</a:t>
            </a:r>
            <a:endParaRPr lang="en-US" sz="3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2108</Words>
  <Application>Microsoft Office PowerPoint</Application>
  <PresentationFormat>Custom</PresentationFormat>
  <Paragraphs>367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Brave Rubagumya</cp:lastModifiedBy>
  <cp:revision>2</cp:revision>
  <dcterms:created xsi:type="dcterms:W3CDTF">2026-09-04T16:08:37Z</dcterms:created>
  <dcterms:modified xsi:type="dcterms:W3CDTF">2026-09-04T16:11:17Z</dcterms:modified>
</cp:coreProperties>
</file>